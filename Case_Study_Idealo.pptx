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5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2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4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9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2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7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2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7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5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0" r:id="rId6"/>
    <p:sldLayoutId id="2147483736" r:id="rId7"/>
    <p:sldLayoutId id="2147483737" r:id="rId8"/>
    <p:sldLayoutId id="2147483738" r:id="rId9"/>
    <p:sldLayoutId id="2147483739" r:id="rId10"/>
    <p:sldLayoutId id="214748374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6866" y="1722626"/>
            <a:ext cx="215796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 dirty="0" err="1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idealo</a:t>
            </a:r>
            <a:endParaRPr sz="6000" b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02528" y="2743200"/>
            <a:ext cx="598663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Analyst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6259" y="3474720"/>
            <a:ext cx="47191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Journey Analysis </a:t>
            </a:r>
            <a:r>
              <a:rPr lang="en-US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8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Feature Improvement</a:t>
            </a:r>
            <a:endParaRPr sz="1800" dirty="0">
              <a:solidFill>
                <a:srgbClr val="CCCC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19289" y="4389120"/>
            <a:ext cx="15531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Sandeep Uprety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490FB-3B35-0DE1-2B9C-A2587AB98035}"/>
              </a:ext>
            </a:extLst>
          </p:cNvPr>
          <p:cNvSpPr txBox="1"/>
          <p:nvPr/>
        </p:nvSpPr>
        <p:spPr>
          <a:xfrm>
            <a:off x="365760" y="228600"/>
            <a:ext cx="31062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6BA75-766F-5B12-3845-96B654F5C0C9}"/>
              </a:ext>
            </a:extLst>
          </p:cNvPr>
          <p:cNvSpPr/>
          <p:nvPr/>
        </p:nvSpPr>
        <p:spPr>
          <a:xfrm>
            <a:off x="365760" y="685800"/>
            <a:ext cx="3291840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EF4DB2-F9DE-56B5-40C5-E8CB97170E30}"/>
              </a:ext>
            </a:extLst>
          </p:cNvPr>
          <p:cNvSpPr/>
          <p:nvPr/>
        </p:nvSpPr>
        <p:spPr>
          <a:xfrm>
            <a:off x="365760" y="1005840"/>
            <a:ext cx="1920240" cy="868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C9740-0BA1-10C8-EAD3-5A328954FAAE}"/>
              </a:ext>
            </a:extLst>
          </p:cNvPr>
          <p:cNvSpPr/>
          <p:nvPr/>
        </p:nvSpPr>
        <p:spPr>
          <a:xfrm>
            <a:off x="365760" y="1005840"/>
            <a:ext cx="73152" cy="868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667D2-F6B9-C7C4-8E01-060DFC76C6DB}"/>
              </a:ext>
            </a:extLst>
          </p:cNvPr>
          <p:cNvSpPr txBox="1"/>
          <p:nvPr/>
        </p:nvSpPr>
        <p:spPr>
          <a:xfrm>
            <a:off x="762299" y="1097280"/>
            <a:ext cx="12186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70.2%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8684E-4DA9-864E-FB6A-9CF39880DEEA}"/>
              </a:ext>
            </a:extLst>
          </p:cNvPr>
          <p:cNvSpPr txBox="1"/>
          <p:nvPr/>
        </p:nvSpPr>
        <p:spPr>
          <a:xfrm>
            <a:off x="457200" y="1508760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Sessions from Google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9C346D9-FFE6-9293-176A-0A6125969249}"/>
              </a:ext>
            </a:extLst>
          </p:cNvPr>
          <p:cNvSpPr/>
          <p:nvPr/>
        </p:nvSpPr>
        <p:spPr>
          <a:xfrm>
            <a:off x="2423160" y="1005840"/>
            <a:ext cx="1920240" cy="868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D243F0-A5FD-2218-1D43-F0E60BBF1461}"/>
              </a:ext>
            </a:extLst>
          </p:cNvPr>
          <p:cNvSpPr/>
          <p:nvPr/>
        </p:nvSpPr>
        <p:spPr>
          <a:xfrm>
            <a:off x="2423160" y="1005840"/>
            <a:ext cx="73152" cy="8686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3C210-B4CA-5D87-0243-C5677114E2F9}"/>
              </a:ext>
            </a:extLst>
          </p:cNvPr>
          <p:cNvSpPr txBox="1"/>
          <p:nvPr/>
        </p:nvSpPr>
        <p:spPr>
          <a:xfrm>
            <a:off x="2819699" y="1097280"/>
            <a:ext cx="12186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25.3%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FD4280-B0B2-41F2-098B-376767F4D8E3}"/>
              </a:ext>
            </a:extLst>
          </p:cNvPr>
          <p:cNvSpPr txBox="1"/>
          <p:nvPr/>
        </p:nvSpPr>
        <p:spPr>
          <a:xfrm>
            <a:off x="2514600" y="1508760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 Rate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1A4FCC8-DDA5-10FA-026D-30A2AE3A1AFA}"/>
              </a:ext>
            </a:extLst>
          </p:cNvPr>
          <p:cNvSpPr/>
          <p:nvPr/>
        </p:nvSpPr>
        <p:spPr>
          <a:xfrm>
            <a:off x="4480560" y="1005840"/>
            <a:ext cx="1920240" cy="868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25E1E-03F7-34FC-321A-2EEA299EE507}"/>
              </a:ext>
            </a:extLst>
          </p:cNvPr>
          <p:cNvSpPr/>
          <p:nvPr/>
        </p:nvSpPr>
        <p:spPr>
          <a:xfrm>
            <a:off x="4480560" y="1005840"/>
            <a:ext cx="73152" cy="868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81B770-35C1-C3B9-DD33-9B1BC42EB9C5}"/>
              </a:ext>
            </a:extLst>
          </p:cNvPr>
          <p:cNvSpPr txBox="1"/>
          <p:nvPr/>
        </p:nvSpPr>
        <p:spPr>
          <a:xfrm>
            <a:off x="4877099" y="1097280"/>
            <a:ext cx="12186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47.8%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F081F3-123C-49B1-C0AF-F756D291D02D}"/>
              </a:ext>
            </a:extLst>
          </p:cNvPr>
          <p:cNvSpPr txBox="1"/>
          <p:nvPr/>
        </p:nvSpPr>
        <p:spPr>
          <a:xfrm>
            <a:off x="4572000" y="1508760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Bounce Rate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20BE539-7C8E-32EB-EAFA-C6A7F1DA0069}"/>
              </a:ext>
            </a:extLst>
          </p:cNvPr>
          <p:cNvSpPr/>
          <p:nvPr/>
        </p:nvSpPr>
        <p:spPr>
          <a:xfrm>
            <a:off x="365760" y="2011680"/>
            <a:ext cx="1920240" cy="868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0FF8A-FC1C-465C-21E2-0E4D4F89C276}"/>
              </a:ext>
            </a:extLst>
          </p:cNvPr>
          <p:cNvSpPr/>
          <p:nvPr/>
        </p:nvSpPr>
        <p:spPr>
          <a:xfrm>
            <a:off x="365760" y="2011680"/>
            <a:ext cx="73152" cy="8686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6D830D-6AAF-3A0D-F7E8-3AD9F5A3C8C3}"/>
              </a:ext>
            </a:extLst>
          </p:cNvPr>
          <p:cNvSpPr txBox="1"/>
          <p:nvPr/>
        </p:nvSpPr>
        <p:spPr>
          <a:xfrm>
            <a:off x="762299" y="2103120"/>
            <a:ext cx="12186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57.5%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F3A941-D99E-68C1-F7CA-E8FDC3C5EA85}"/>
              </a:ext>
            </a:extLst>
          </p:cNvPr>
          <p:cNvSpPr txBox="1"/>
          <p:nvPr/>
        </p:nvSpPr>
        <p:spPr>
          <a:xfrm>
            <a:off x="457200" y="2514600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Traffic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56D5097-5D89-4EE6-69AF-38A2014991B5}"/>
              </a:ext>
            </a:extLst>
          </p:cNvPr>
          <p:cNvSpPr/>
          <p:nvPr/>
        </p:nvSpPr>
        <p:spPr>
          <a:xfrm>
            <a:off x="2423160" y="2011680"/>
            <a:ext cx="1920240" cy="868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91711F-890B-1EC8-3A3D-542631AC57CF}"/>
              </a:ext>
            </a:extLst>
          </p:cNvPr>
          <p:cNvSpPr/>
          <p:nvPr/>
        </p:nvSpPr>
        <p:spPr>
          <a:xfrm>
            <a:off x="2423160" y="2011680"/>
            <a:ext cx="73152" cy="868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3586F-63C6-EE1A-AAD2-7F57966BF32D}"/>
              </a:ext>
            </a:extLst>
          </p:cNvPr>
          <p:cNvSpPr txBox="1"/>
          <p:nvPr/>
        </p:nvSpPr>
        <p:spPr>
          <a:xfrm>
            <a:off x="2819699" y="2103120"/>
            <a:ext cx="12186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2.68%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DB9C08-8438-D7B4-F0C3-24767A627A6F}"/>
              </a:ext>
            </a:extLst>
          </p:cNvPr>
          <p:cNvSpPr txBox="1"/>
          <p:nvPr/>
        </p:nvSpPr>
        <p:spPr>
          <a:xfrm>
            <a:off x="2514600" y="2514600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Homepage </a:t>
            </a:r>
            <a:r>
              <a:rPr lang="en-GB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OOP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D49A17-35DB-0A04-6A79-B1E1F3C9E918}"/>
              </a:ext>
            </a:extLst>
          </p:cNvPr>
          <p:cNvSpPr/>
          <p:nvPr/>
        </p:nvSpPr>
        <p:spPr>
          <a:xfrm>
            <a:off x="4480560" y="2011680"/>
            <a:ext cx="1920240" cy="868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620A8E-EA68-689D-B788-B5A2745DB89D}"/>
              </a:ext>
            </a:extLst>
          </p:cNvPr>
          <p:cNvSpPr/>
          <p:nvPr/>
        </p:nvSpPr>
        <p:spPr>
          <a:xfrm>
            <a:off x="4480560" y="2011680"/>
            <a:ext cx="73152" cy="8686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D14927-22F2-1387-9C5E-7F3CC7E45003}"/>
              </a:ext>
            </a:extLst>
          </p:cNvPr>
          <p:cNvSpPr txBox="1"/>
          <p:nvPr/>
        </p:nvSpPr>
        <p:spPr>
          <a:xfrm>
            <a:off x="5035795" y="2103120"/>
            <a:ext cx="9012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27%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BF66B0-025E-55CA-8D71-5F9AB2F78B7F}"/>
              </a:ext>
            </a:extLst>
          </p:cNvPr>
          <p:cNvSpPr txBox="1"/>
          <p:nvPr/>
        </p:nvSpPr>
        <p:spPr>
          <a:xfrm>
            <a:off x="4572000" y="2514600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Category (Electronics)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FC0F66-4C67-8B36-8982-2E4592414695}"/>
              </a:ext>
            </a:extLst>
          </p:cNvPr>
          <p:cNvSpPr txBox="1"/>
          <p:nvPr/>
        </p:nvSpPr>
        <p:spPr>
          <a:xfrm>
            <a:off x="4343400" y="3507891"/>
            <a:ext cx="35520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 by Device</a:t>
            </a:r>
            <a:endParaRPr lang="en-GB" sz="2400" b="1" dirty="0">
              <a:solidFill>
                <a:srgbClr val="0A25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PC: 28.5%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Phone: 23.4%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Tablet: 24.3%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sz="1200" b="1" dirty="0">
              <a:solidFill>
                <a:srgbClr val="0A25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67A4DD-FA76-004D-8460-A90A7BF6D7D3}"/>
              </a:ext>
            </a:extLst>
          </p:cNvPr>
          <p:cNvSpPr txBox="1"/>
          <p:nvPr/>
        </p:nvSpPr>
        <p:spPr>
          <a:xfrm>
            <a:off x="364760" y="3612041"/>
            <a:ext cx="41523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  <a:endParaRPr lang="en-GB" sz="2400" b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78% of users land directly on product pages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PC converts 5pp better than mobile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Homepage has 64% bounce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 b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7" name="Picture 46" descr="A pie chart of a device&#10;&#10;AI-generated content may be incorrect.">
            <a:extLst>
              <a:ext uri="{FF2B5EF4-FFF2-40B4-BE49-F238E27FC236}">
                <a16:creationId xmlns:a16="http://schemas.microsoft.com/office/drawing/2014/main" id="{FDB2B8D7-59D0-A5CD-DEC8-D11E9366A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940" y="1005840"/>
            <a:ext cx="4783060" cy="480792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6B91C49-1B4C-047D-6A92-0D3C74C35CC0}"/>
              </a:ext>
            </a:extLst>
          </p:cNvPr>
          <p:cNvSpPr txBox="1"/>
          <p:nvPr/>
        </p:nvSpPr>
        <p:spPr>
          <a:xfrm>
            <a:off x="9220782" y="5388677"/>
            <a:ext cx="1487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i="1" dirty="0"/>
              <a:t>Traffic share by device</a:t>
            </a:r>
            <a:endParaRPr lang="en-DE" sz="1100" i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129274-BD48-A21F-5FE1-92DA5EC5B3FF}"/>
              </a:ext>
            </a:extLst>
          </p:cNvPr>
          <p:cNvSpPr txBox="1"/>
          <p:nvPr/>
        </p:nvSpPr>
        <p:spPr>
          <a:xfrm>
            <a:off x="9496413" y="6471875"/>
            <a:ext cx="2600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= </a:t>
            </a:r>
            <a:r>
              <a:rPr lang="en-GB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OffersOfProduct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(Product page)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37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1">
            <a:extLst>
              <a:ext uri="{FF2B5EF4-FFF2-40B4-BE49-F238E27FC236}">
                <a16:creationId xmlns:a16="http://schemas.microsoft.com/office/drawing/2014/main" id="{8D9A18DC-042B-F0AA-A57D-7C3B8E24B253}"/>
              </a:ext>
            </a:extLst>
          </p:cNvPr>
          <p:cNvSpPr/>
          <p:nvPr/>
        </p:nvSpPr>
        <p:spPr>
          <a:xfrm>
            <a:off x="365760" y="228600"/>
            <a:ext cx="502920" cy="3657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41B374-8E92-05CC-DC59-A1B7613AFB75}"/>
              </a:ext>
            </a:extLst>
          </p:cNvPr>
          <p:cNvSpPr txBox="1"/>
          <p:nvPr/>
        </p:nvSpPr>
        <p:spPr>
          <a:xfrm>
            <a:off x="417486" y="256032"/>
            <a:ext cx="3994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D518DF-8562-84DB-D49C-7DB76006F78F}"/>
              </a:ext>
            </a:extLst>
          </p:cNvPr>
          <p:cNvSpPr txBox="1"/>
          <p:nvPr/>
        </p:nvSpPr>
        <p:spPr>
          <a:xfrm>
            <a:off x="960120" y="153436"/>
            <a:ext cx="37710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Typical User Flows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03462F-A351-6EFA-B17D-1CF4FEBEE754}"/>
              </a:ext>
            </a:extLst>
          </p:cNvPr>
          <p:cNvSpPr/>
          <p:nvPr/>
        </p:nvSpPr>
        <p:spPr>
          <a:xfrm>
            <a:off x="365759" y="685800"/>
            <a:ext cx="4694851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F2E422C2-990C-AD9A-B570-E586E5114468}"/>
              </a:ext>
            </a:extLst>
          </p:cNvPr>
          <p:cNvSpPr/>
          <p:nvPr/>
        </p:nvSpPr>
        <p:spPr>
          <a:xfrm>
            <a:off x="365760" y="1048767"/>
            <a:ext cx="4264297" cy="685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A31B0D-0156-41B8-A961-690AB9BB0742}"/>
              </a:ext>
            </a:extLst>
          </p:cNvPr>
          <p:cNvSpPr txBox="1"/>
          <p:nvPr/>
        </p:nvSpPr>
        <p:spPr>
          <a:xfrm>
            <a:off x="920335" y="1158495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Product Page Visit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0EBE83-F3A9-9145-00FD-947B45AD650E}"/>
              </a:ext>
            </a:extLst>
          </p:cNvPr>
          <p:cNvSpPr txBox="1"/>
          <p:nvPr/>
        </p:nvSpPr>
        <p:spPr>
          <a:xfrm>
            <a:off x="920335" y="1432815"/>
            <a:ext cx="9669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</a:t>
            </a:r>
            <a:r>
              <a:rPr lang="en-DE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Exit</a:t>
            </a:r>
          </a:p>
        </p:txBody>
      </p:sp>
      <p:sp>
        <p:nvSpPr>
          <p:cNvPr id="50" name="Rounded Rectangle 10">
            <a:extLst>
              <a:ext uri="{FF2B5EF4-FFF2-40B4-BE49-F238E27FC236}">
                <a16:creationId xmlns:a16="http://schemas.microsoft.com/office/drawing/2014/main" id="{7E5A11C6-6DC1-B65E-B0A2-E0F2D1E0947E}"/>
              </a:ext>
            </a:extLst>
          </p:cNvPr>
          <p:cNvSpPr/>
          <p:nvPr/>
        </p:nvSpPr>
        <p:spPr>
          <a:xfrm>
            <a:off x="3308941" y="1208787"/>
            <a:ext cx="960120" cy="3657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FEC676-BBF2-C929-461E-DFBC9B2A24B7}"/>
              </a:ext>
            </a:extLst>
          </p:cNvPr>
          <p:cNvSpPr txBox="1"/>
          <p:nvPr/>
        </p:nvSpPr>
        <p:spPr>
          <a:xfrm>
            <a:off x="3308941" y="124536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35.4%</a:t>
            </a:r>
          </a:p>
        </p:txBody>
      </p:sp>
      <p:sp>
        <p:nvSpPr>
          <p:cNvPr id="52" name="Rounded Rectangle 12">
            <a:extLst>
              <a:ext uri="{FF2B5EF4-FFF2-40B4-BE49-F238E27FC236}">
                <a16:creationId xmlns:a16="http://schemas.microsoft.com/office/drawing/2014/main" id="{972C1E8E-4D75-4D03-A3FF-E02968871F8D}"/>
              </a:ext>
            </a:extLst>
          </p:cNvPr>
          <p:cNvSpPr/>
          <p:nvPr/>
        </p:nvSpPr>
        <p:spPr>
          <a:xfrm>
            <a:off x="365762" y="1826007"/>
            <a:ext cx="4264296" cy="685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5D9DF0-B394-BF2C-70A5-D574BD5EB81C}"/>
              </a:ext>
            </a:extLst>
          </p:cNvPr>
          <p:cNvSpPr txBox="1"/>
          <p:nvPr/>
        </p:nvSpPr>
        <p:spPr>
          <a:xfrm>
            <a:off x="920335" y="1935735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Homepage Only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4883A4-EBF1-F4E2-B905-1FAD38378A85}"/>
              </a:ext>
            </a:extLst>
          </p:cNvPr>
          <p:cNvSpPr txBox="1"/>
          <p:nvPr/>
        </p:nvSpPr>
        <p:spPr>
          <a:xfrm>
            <a:off x="920335" y="2210055"/>
            <a:ext cx="10310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</a:t>
            </a:r>
            <a:r>
              <a:rPr lang="en-DE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Exit</a:t>
            </a:r>
          </a:p>
        </p:txBody>
      </p:sp>
      <p:sp>
        <p:nvSpPr>
          <p:cNvPr id="57" name="Rounded Rectangle 17">
            <a:extLst>
              <a:ext uri="{FF2B5EF4-FFF2-40B4-BE49-F238E27FC236}">
                <a16:creationId xmlns:a16="http://schemas.microsoft.com/office/drawing/2014/main" id="{7BF5CE55-9E34-08EB-E9AA-EE77B3D214C5}"/>
              </a:ext>
            </a:extLst>
          </p:cNvPr>
          <p:cNvSpPr/>
          <p:nvPr/>
        </p:nvSpPr>
        <p:spPr>
          <a:xfrm>
            <a:off x="3308941" y="1986027"/>
            <a:ext cx="960120" cy="3657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37884B-04F8-2282-927E-BADE95117FDB}"/>
              </a:ext>
            </a:extLst>
          </p:cNvPr>
          <p:cNvSpPr txBox="1"/>
          <p:nvPr/>
        </p:nvSpPr>
        <p:spPr>
          <a:xfrm>
            <a:off x="3308941" y="202260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7.7%</a:t>
            </a:r>
          </a:p>
        </p:txBody>
      </p:sp>
      <p:sp>
        <p:nvSpPr>
          <p:cNvPr id="59" name="Rounded Rectangle 19">
            <a:extLst>
              <a:ext uri="{FF2B5EF4-FFF2-40B4-BE49-F238E27FC236}">
                <a16:creationId xmlns:a16="http://schemas.microsoft.com/office/drawing/2014/main" id="{CFAEAFCF-D413-6FC8-4037-670A810EC161}"/>
              </a:ext>
            </a:extLst>
          </p:cNvPr>
          <p:cNvSpPr/>
          <p:nvPr/>
        </p:nvSpPr>
        <p:spPr>
          <a:xfrm>
            <a:off x="4731152" y="1038827"/>
            <a:ext cx="4264295" cy="685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DB7992-39C5-7654-D471-891540F509C5}"/>
              </a:ext>
            </a:extLst>
          </p:cNvPr>
          <p:cNvSpPr txBox="1"/>
          <p:nvPr/>
        </p:nvSpPr>
        <p:spPr>
          <a:xfrm>
            <a:off x="5285725" y="1148555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 Multiple Products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DE0B183-3196-4E6A-BB38-01905CF77AF3}"/>
              </a:ext>
            </a:extLst>
          </p:cNvPr>
          <p:cNvSpPr txBox="1"/>
          <p:nvPr/>
        </p:nvSpPr>
        <p:spPr>
          <a:xfrm>
            <a:off x="5285725" y="1422875"/>
            <a:ext cx="15792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</a:t>
            </a:r>
            <a:r>
              <a:rPr lang="en-DE"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OOP </a:t>
            </a:r>
            <a:r>
              <a:rPr lang="en-DE"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OOP</a:t>
            </a:r>
            <a:endParaRPr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ounded Rectangle 24">
            <a:extLst>
              <a:ext uri="{FF2B5EF4-FFF2-40B4-BE49-F238E27FC236}">
                <a16:creationId xmlns:a16="http://schemas.microsoft.com/office/drawing/2014/main" id="{7CE3D731-3375-A05F-9AD1-96D3341700FC}"/>
              </a:ext>
            </a:extLst>
          </p:cNvPr>
          <p:cNvSpPr/>
          <p:nvPr/>
        </p:nvSpPr>
        <p:spPr>
          <a:xfrm>
            <a:off x="7674331" y="1198847"/>
            <a:ext cx="960120" cy="3657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81A14C-44C2-1635-7AC7-25937CAE013F}"/>
              </a:ext>
            </a:extLst>
          </p:cNvPr>
          <p:cNvSpPr txBox="1"/>
          <p:nvPr/>
        </p:nvSpPr>
        <p:spPr>
          <a:xfrm>
            <a:off x="7674331" y="123542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7.4%</a:t>
            </a:r>
          </a:p>
        </p:txBody>
      </p:sp>
      <p:sp>
        <p:nvSpPr>
          <p:cNvPr id="66" name="Rounded Rectangle 26">
            <a:extLst>
              <a:ext uri="{FF2B5EF4-FFF2-40B4-BE49-F238E27FC236}">
                <a16:creationId xmlns:a16="http://schemas.microsoft.com/office/drawing/2014/main" id="{12912513-3F5F-88B4-18DC-5042074C8238}"/>
              </a:ext>
            </a:extLst>
          </p:cNvPr>
          <p:cNvSpPr/>
          <p:nvPr/>
        </p:nvSpPr>
        <p:spPr>
          <a:xfrm>
            <a:off x="4731153" y="1816067"/>
            <a:ext cx="4264294" cy="685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3FE420-B734-70B9-9CDC-61123F11A644}"/>
              </a:ext>
            </a:extLst>
          </p:cNvPr>
          <p:cNvSpPr txBox="1"/>
          <p:nvPr/>
        </p:nvSpPr>
        <p:spPr>
          <a:xfrm>
            <a:off x="5285725" y="1925795"/>
            <a:ext cx="1840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</a:t>
            </a:r>
            <a:r>
              <a:rPr lang="en-DE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Convert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E2B65A-2C8F-8D10-1DFC-5B54BBA5C348}"/>
              </a:ext>
            </a:extLst>
          </p:cNvPr>
          <p:cNvSpPr txBox="1"/>
          <p:nvPr/>
        </p:nvSpPr>
        <p:spPr>
          <a:xfrm>
            <a:off x="5285725" y="2200115"/>
            <a:ext cx="14253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</a:t>
            </a:r>
            <a:r>
              <a:rPr lang="en-DE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100" dirty="0" err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GoToShop</a:t>
            </a:r>
            <a:endParaRPr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ounded Rectangle 31">
            <a:extLst>
              <a:ext uri="{FF2B5EF4-FFF2-40B4-BE49-F238E27FC236}">
                <a16:creationId xmlns:a16="http://schemas.microsoft.com/office/drawing/2014/main" id="{03BA459E-DD70-2B0A-AC06-58D0D64F985F}"/>
              </a:ext>
            </a:extLst>
          </p:cNvPr>
          <p:cNvSpPr/>
          <p:nvPr/>
        </p:nvSpPr>
        <p:spPr>
          <a:xfrm>
            <a:off x="7674331" y="1976087"/>
            <a:ext cx="960120" cy="3657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B58101-A166-9AC4-0E49-8DE01F63788F}"/>
              </a:ext>
            </a:extLst>
          </p:cNvPr>
          <p:cNvSpPr txBox="1"/>
          <p:nvPr/>
        </p:nvSpPr>
        <p:spPr>
          <a:xfrm>
            <a:off x="7674331" y="201266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6.5%</a:t>
            </a:r>
          </a:p>
        </p:txBody>
      </p:sp>
      <p:sp>
        <p:nvSpPr>
          <p:cNvPr id="74" name="Rounded Rectangle 34">
            <a:extLst>
              <a:ext uri="{FF2B5EF4-FFF2-40B4-BE49-F238E27FC236}">
                <a16:creationId xmlns:a16="http://schemas.microsoft.com/office/drawing/2014/main" id="{606AA3C4-A07A-B4A5-9DB6-3806873DF4F2}"/>
              </a:ext>
            </a:extLst>
          </p:cNvPr>
          <p:cNvSpPr/>
          <p:nvPr/>
        </p:nvSpPr>
        <p:spPr>
          <a:xfrm>
            <a:off x="9150949" y="1048767"/>
            <a:ext cx="2180982" cy="6758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2986095-89DD-A6CD-A279-2386C1AEBC87}"/>
              </a:ext>
            </a:extLst>
          </p:cNvPr>
          <p:cNvSpPr txBox="1"/>
          <p:nvPr/>
        </p:nvSpPr>
        <p:spPr>
          <a:xfrm>
            <a:off x="9752653" y="992700"/>
            <a:ext cx="1090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2.84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2FDD45D-3EA8-BA80-26B6-F00593550A50}"/>
              </a:ext>
            </a:extLst>
          </p:cNvPr>
          <p:cNvSpPr txBox="1"/>
          <p:nvPr/>
        </p:nvSpPr>
        <p:spPr>
          <a:xfrm>
            <a:off x="9601157" y="1385115"/>
            <a:ext cx="17307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 pages/session</a:t>
            </a:r>
          </a:p>
        </p:txBody>
      </p:sp>
      <p:sp>
        <p:nvSpPr>
          <p:cNvPr id="77" name="Rounded Rectangle 37">
            <a:extLst>
              <a:ext uri="{FF2B5EF4-FFF2-40B4-BE49-F238E27FC236}">
                <a16:creationId xmlns:a16="http://schemas.microsoft.com/office/drawing/2014/main" id="{4DE76193-EBA0-7931-1364-A51B984EF2EA}"/>
              </a:ext>
            </a:extLst>
          </p:cNvPr>
          <p:cNvSpPr/>
          <p:nvPr/>
        </p:nvSpPr>
        <p:spPr>
          <a:xfrm>
            <a:off x="9150949" y="1816068"/>
            <a:ext cx="2180982" cy="6957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A6EE70A-5A2C-5538-4C86-41B380D65747}"/>
              </a:ext>
            </a:extLst>
          </p:cNvPr>
          <p:cNvSpPr txBox="1"/>
          <p:nvPr/>
        </p:nvSpPr>
        <p:spPr>
          <a:xfrm>
            <a:off x="9557116" y="1760993"/>
            <a:ext cx="14714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47.8%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8D418BF-3683-F1AB-1EEF-D43C806B4035}"/>
              </a:ext>
            </a:extLst>
          </p:cNvPr>
          <p:cNvSpPr txBox="1"/>
          <p:nvPr/>
        </p:nvSpPr>
        <p:spPr>
          <a:xfrm>
            <a:off x="9672211" y="2151334"/>
            <a:ext cx="1356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Bounce rate</a:t>
            </a:r>
          </a:p>
        </p:txBody>
      </p:sp>
      <p:pic>
        <p:nvPicPr>
          <p:cNvPr id="82" name="Picture 81" descr="A graph with orange bars&#10;&#10;AI-generated content may be incorrect.">
            <a:extLst>
              <a:ext uri="{FF2B5EF4-FFF2-40B4-BE49-F238E27FC236}">
                <a16:creationId xmlns:a16="http://schemas.microsoft.com/office/drawing/2014/main" id="{29F3FCFE-9D41-21AD-7538-00B6FA456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86" y="2621535"/>
            <a:ext cx="7763253" cy="3822636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20A1CB3-DBB5-D459-54F5-BA1A6CE8B14D}"/>
              </a:ext>
            </a:extLst>
          </p:cNvPr>
          <p:cNvSpPr txBox="1"/>
          <p:nvPr/>
        </p:nvSpPr>
        <p:spPr>
          <a:xfrm>
            <a:off x="2590885" y="6319416"/>
            <a:ext cx="4120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“Pages per Session” 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pages users view before leaving</a:t>
            </a:r>
            <a:endParaRPr lang="en-D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78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AD0474CC-E7DA-28C5-A5BF-5E92769E9326}"/>
              </a:ext>
            </a:extLst>
          </p:cNvPr>
          <p:cNvSpPr/>
          <p:nvPr/>
        </p:nvSpPr>
        <p:spPr>
          <a:xfrm>
            <a:off x="8046720" y="4863769"/>
            <a:ext cx="3657600" cy="87391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18085072-E9AF-9E74-601F-4D2D2C61D84C}"/>
              </a:ext>
            </a:extLst>
          </p:cNvPr>
          <p:cNvSpPr/>
          <p:nvPr/>
        </p:nvSpPr>
        <p:spPr>
          <a:xfrm>
            <a:off x="4267200" y="4841678"/>
            <a:ext cx="3657600" cy="87391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ED70985D-7CCB-834A-B93A-EDF168E5BF31}"/>
              </a:ext>
            </a:extLst>
          </p:cNvPr>
          <p:cNvSpPr/>
          <p:nvPr/>
        </p:nvSpPr>
        <p:spPr>
          <a:xfrm>
            <a:off x="365760" y="4863770"/>
            <a:ext cx="3657600" cy="87391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C4CC93D-B61A-94F2-3D28-3C6A071A3964}"/>
              </a:ext>
            </a:extLst>
          </p:cNvPr>
          <p:cNvSpPr/>
          <p:nvPr/>
        </p:nvSpPr>
        <p:spPr>
          <a:xfrm>
            <a:off x="365760" y="228600"/>
            <a:ext cx="502920" cy="3657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0C632-60DA-D7C8-32B0-7A92076793F2}"/>
              </a:ext>
            </a:extLst>
          </p:cNvPr>
          <p:cNvSpPr txBox="1"/>
          <p:nvPr/>
        </p:nvSpPr>
        <p:spPr>
          <a:xfrm>
            <a:off x="417486" y="256032"/>
            <a:ext cx="3994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A1663-1C3C-A160-F330-083DA2848EFF}"/>
              </a:ext>
            </a:extLst>
          </p:cNvPr>
          <p:cNvSpPr txBox="1"/>
          <p:nvPr/>
        </p:nvSpPr>
        <p:spPr>
          <a:xfrm>
            <a:off x="920406" y="148310"/>
            <a:ext cx="48533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3 Learnings from User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7F1380-9C9E-C966-EB50-8C5B922EBAEB}"/>
              </a:ext>
            </a:extLst>
          </p:cNvPr>
          <p:cNvSpPr/>
          <p:nvPr/>
        </p:nvSpPr>
        <p:spPr>
          <a:xfrm>
            <a:off x="365760" y="685800"/>
            <a:ext cx="5447740" cy="4951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187D6A-8DE5-F2E2-DF1B-04F0CC961DA5}"/>
              </a:ext>
            </a:extLst>
          </p:cNvPr>
          <p:cNvSpPr/>
          <p:nvPr/>
        </p:nvSpPr>
        <p:spPr>
          <a:xfrm>
            <a:off x="365760" y="1005840"/>
            <a:ext cx="3657600" cy="312641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C207F-B361-FAD6-0CBE-B3050CD1A40B}"/>
              </a:ext>
            </a:extLst>
          </p:cNvPr>
          <p:cNvSpPr txBox="1"/>
          <p:nvPr/>
        </p:nvSpPr>
        <p:spPr>
          <a:xfrm>
            <a:off x="548640" y="1188720"/>
            <a:ext cx="4187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CF3359-166A-9AFD-2809-AECA17D9AA0F}"/>
              </a:ext>
            </a:extLst>
          </p:cNvPr>
          <p:cNvSpPr txBox="1"/>
          <p:nvPr/>
        </p:nvSpPr>
        <p:spPr>
          <a:xfrm>
            <a:off x="548640" y="1737360"/>
            <a:ext cx="3291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pages are the real landing pages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F38E06-B5A8-76C4-7C27-AA7E84B5522E}"/>
              </a:ext>
            </a:extLst>
          </p:cNvPr>
          <p:cNvSpPr txBox="1"/>
          <p:nvPr/>
        </p:nvSpPr>
        <p:spPr>
          <a:xfrm>
            <a:off x="548640" y="2560320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78% of users land directly on product pages from Google. Only 12% start at homepage.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368097-AB13-255D-2254-BFD418D55FC5}"/>
              </a:ext>
            </a:extLst>
          </p:cNvPr>
          <p:cNvSpPr txBox="1"/>
          <p:nvPr/>
        </p:nvSpPr>
        <p:spPr>
          <a:xfrm>
            <a:off x="548640" y="5039117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pages must work as both landing AND conversion pages.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656CB3C-8093-9F23-DE22-06AAA51D3616}"/>
              </a:ext>
            </a:extLst>
          </p:cNvPr>
          <p:cNvSpPr/>
          <p:nvPr/>
        </p:nvSpPr>
        <p:spPr>
          <a:xfrm>
            <a:off x="4267200" y="1017217"/>
            <a:ext cx="3657600" cy="3115033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18E57-BB4A-5238-6D3A-1EC3512D3688}"/>
              </a:ext>
            </a:extLst>
          </p:cNvPr>
          <p:cNvSpPr txBox="1"/>
          <p:nvPr/>
        </p:nvSpPr>
        <p:spPr>
          <a:xfrm>
            <a:off x="4389120" y="1188720"/>
            <a:ext cx="4187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2C5E31-C664-FED8-DB3A-ACE3B81221FC}"/>
              </a:ext>
            </a:extLst>
          </p:cNvPr>
          <p:cNvSpPr txBox="1"/>
          <p:nvPr/>
        </p:nvSpPr>
        <p:spPr>
          <a:xfrm>
            <a:off x="4389120" y="1737360"/>
            <a:ext cx="3291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bounce rate signals opportunity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3FF6F4-E249-C03A-A761-07729DD5DAAB}"/>
              </a:ext>
            </a:extLst>
          </p:cNvPr>
          <p:cNvSpPr txBox="1"/>
          <p:nvPr/>
        </p:nvSpPr>
        <p:spPr>
          <a:xfrm>
            <a:off x="4389120" y="2560320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48% leave after just one page. Most common journey is single product page visit.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48C126-0A21-23E0-902A-C249F94F05AC}"/>
              </a:ext>
            </a:extLst>
          </p:cNvPr>
          <p:cNvSpPr txBox="1"/>
          <p:nvPr/>
        </p:nvSpPr>
        <p:spPr>
          <a:xfrm>
            <a:off x="4434840" y="5039117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may not find what they need or lack incentive to explore.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74B0E39-E921-767C-3B67-7A52D68A0E83}"/>
              </a:ext>
            </a:extLst>
          </p:cNvPr>
          <p:cNvSpPr/>
          <p:nvPr/>
        </p:nvSpPr>
        <p:spPr>
          <a:xfrm>
            <a:off x="8046720" y="1005840"/>
            <a:ext cx="3657600" cy="312641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6035C7-723A-16DB-8A6A-03B7116092CE}"/>
              </a:ext>
            </a:extLst>
          </p:cNvPr>
          <p:cNvSpPr txBox="1"/>
          <p:nvPr/>
        </p:nvSpPr>
        <p:spPr>
          <a:xfrm>
            <a:off x="8229600" y="1188720"/>
            <a:ext cx="4187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3E9F90-3FF6-717E-0C22-3C648CBAED84}"/>
              </a:ext>
            </a:extLst>
          </p:cNvPr>
          <p:cNvSpPr txBox="1"/>
          <p:nvPr/>
        </p:nvSpPr>
        <p:spPr>
          <a:xfrm>
            <a:off x="8229600" y="1737360"/>
            <a:ext cx="3291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who compare are more likely to convert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B1F599-54DE-4A4F-2D2C-CA221FADAE4F}"/>
              </a:ext>
            </a:extLst>
          </p:cNvPr>
          <p:cNvSpPr txBox="1"/>
          <p:nvPr/>
        </p:nvSpPr>
        <p:spPr>
          <a:xfrm>
            <a:off x="8229600" y="2560320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 journeys show 2-3 product pages before clicking to shop.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14D529-B7AC-7A7C-9924-7B3B802BA0B4}"/>
              </a:ext>
            </a:extLst>
          </p:cNvPr>
          <p:cNvSpPr txBox="1"/>
          <p:nvPr/>
        </p:nvSpPr>
        <p:spPr>
          <a:xfrm>
            <a:off x="8275320" y="5017025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Helping users compare products could improve conversion.</a:t>
            </a:r>
          </a:p>
        </p:txBody>
      </p:sp>
    </p:spTree>
    <p:extLst>
      <p:ext uri="{BB962C8B-B14F-4D97-AF65-F5344CB8AC3E}">
        <p14:creationId xmlns:p14="http://schemas.microsoft.com/office/powerpoint/2010/main" val="83526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7816F00-D9E7-09AC-E856-15A055A3CB03}"/>
              </a:ext>
            </a:extLst>
          </p:cNvPr>
          <p:cNvSpPr/>
          <p:nvPr/>
        </p:nvSpPr>
        <p:spPr>
          <a:xfrm>
            <a:off x="365760" y="228600"/>
            <a:ext cx="502920" cy="3657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A17F2-3808-3566-3D56-A2BF430C3084}"/>
              </a:ext>
            </a:extLst>
          </p:cNvPr>
          <p:cNvSpPr txBox="1"/>
          <p:nvPr/>
        </p:nvSpPr>
        <p:spPr>
          <a:xfrm>
            <a:off x="417486" y="256032"/>
            <a:ext cx="3994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C2E4A-2EE3-B960-11B3-4F07E324A127}"/>
              </a:ext>
            </a:extLst>
          </p:cNvPr>
          <p:cNvSpPr txBox="1"/>
          <p:nvPr/>
        </p:nvSpPr>
        <p:spPr>
          <a:xfrm>
            <a:off x="940050" y="153855"/>
            <a:ext cx="33750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Sessions from Google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0A4D7-2D0D-2372-6F12-7FAE5EA06617}"/>
              </a:ext>
            </a:extLst>
          </p:cNvPr>
          <p:cNvSpPr/>
          <p:nvPr/>
        </p:nvSpPr>
        <p:spPr>
          <a:xfrm>
            <a:off x="365759" y="685800"/>
            <a:ext cx="4060891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31ABF9-78BE-6837-FDD9-090B29ED6CC0}"/>
              </a:ext>
            </a:extLst>
          </p:cNvPr>
          <p:cNvSpPr/>
          <p:nvPr/>
        </p:nvSpPr>
        <p:spPr>
          <a:xfrm>
            <a:off x="365760" y="1005840"/>
            <a:ext cx="3657600" cy="25603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F3DF6-3EC9-DC40-E3E2-D8CE4EA33600}"/>
              </a:ext>
            </a:extLst>
          </p:cNvPr>
          <p:cNvSpPr txBox="1"/>
          <p:nvPr/>
        </p:nvSpPr>
        <p:spPr>
          <a:xfrm>
            <a:off x="940050" y="1371600"/>
            <a:ext cx="250902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70.2%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4E0E3-DB9F-DE26-E89D-32805B666F38}"/>
              </a:ext>
            </a:extLst>
          </p:cNvPr>
          <p:cNvSpPr txBox="1"/>
          <p:nvPr/>
        </p:nvSpPr>
        <p:spPr>
          <a:xfrm>
            <a:off x="1451856" y="2286000"/>
            <a:ext cx="14854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Google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18F28-7B71-0895-E352-C44025969FBC}"/>
              </a:ext>
            </a:extLst>
          </p:cNvPr>
          <p:cNvSpPr txBox="1"/>
          <p:nvPr/>
        </p:nvSpPr>
        <p:spPr>
          <a:xfrm>
            <a:off x="1110770" y="2834640"/>
            <a:ext cx="21675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6,600 out of 9,405 sessions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8609B9-9E00-27A4-A80D-BC8A084D6D9B}"/>
              </a:ext>
            </a:extLst>
          </p:cNvPr>
          <p:cNvSpPr/>
          <p:nvPr/>
        </p:nvSpPr>
        <p:spPr>
          <a:xfrm>
            <a:off x="365760" y="3840480"/>
            <a:ext cx="3657600" cy="12801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58CAD-FCE2-8DF5-82D4-B46DACA30B29}"/>
              </a:ext>
            </a:extLst>
          </p:cNvPr>
          <p:cNvSpPr txBox="1"/>
          <p:nvPr/>
        </p:nvSpPr>
        <p:spPr>
          <a:xfrm>
            <a:off x="502920" y="3977639"/>
            <a:ext cx="3383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 Heavy SEO dependency. Social channels underutilized (only 1%).</a:t>
            </a:r>
          </a:p>
        </p:txBody>
      </p:sp>
      <p:pic>
        <p:nvPicPr>
          <p:cNvPr id="14" name="Picture 13" descr="A graph with numbers and bars&#10;&#10;AI-generated content may be incorrect.">
            <a:extLst>
              <a:ext uri="{FF2B5EF4-FFF2-40B4-BE49-F238E27FC236}">
                <a16:creationId xmlns:a16="http://schemas.microsoft.com/office/drawing/2014/main" id="{FE81188B-30B8-08AF-4942-C809DDBA9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082" y="731519"/>
            <a:ext cx="8040918" cy="480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9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D7E09F8-96AE-8EB0-F643-D9759E49B66E}"/>
              </a:ext>
            </a:extLst>
          </p:cNvPr>
          <p:cNvSpPr/>
          <p:nvPr/>
        </p:nvSpPr>
        <p:spPr>
          <a:xfrm>
            <a:off x="365760" y="228600"/>
            <a:ext cx="502920" cy="3657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DDD3A7-8B4F-B45A-AF56-A7A729FE5F23}"/>
              </a:ext>
            </a:extLst>
          </p:cNvPr>
          <p:cNvSpPr txBox="1"/>
          <p:nvPr/>
        </p:nvSpPr>
        <p:spPr>
          <a:xfrm>
            <a:off x="365760" y="2560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5F9E5-93C1-7CE0-1E33-34666CCA1985}"/>
              </a:ext>
            </a:extLst>
          </p:cNvPr>
          <p:cNvSpPr txBox="1"/>
          <p:nvPr/>
        </p:nvSpPr>
        <p:spPr>
          <a:xfrm>
            <a:off x="914400" y="16001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</a:rPr>
              <a:t>Homepage to Product Page Journey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ED803A-43EE-2B7D-BE53-CCFAF442DB05}"/>
              </a:ext>
            </a:extLst>
          </p:cNvPr>
          <p:cNvSpPr/>
          <p:nvPr/>
        </p:nvSpPr>
        <p:spPr>
          <a:xfrm>
            <a:off x="365760" y="685800"/>
            <a:ext cx="7109984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7A3DF7-6C2C-F115-7E95-0C2034E6137C}"/>
              </a:ext>
            </a:extLst>
          </p:cNvPr>
          <p:cNvSpPr/>
          <p:nvPr/>
        </p:nvSpPr>
        <p:spPr>
          <a:xfrm>
            <a:off x="365760" y="1732474"/>
            <a:ext cx="5486400" cy="8229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BD941-DC7F-038B-48E6-75A7DDB3826B}"/>
              </a:ext>
            </a:extLst>
          </p:cNvPr>
          <p:cNvSpPr txBox="1"/>
          <p:nvPr/>
        </p:nvSpPr>
        <p:spPr>
          <a:xfrm>
            <a:off x="548640" y="1823914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Total Sessions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DC0E7-5347-4442-EABB-9978EABFB13B}"/>
              </a:ext>
            </a:extLst>
          </p:cNvPr>
          <p:cNvSpPr txBox="1"/>
          <p:nvPr/>
        </p:nvSpPr>
        <p:spPr>
          <a:xfrm>
            <a:off x="548640" y="209823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</a:rPr>
              <a:t>9,405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CF850-A003-B47E-0D96-CDF65ED6AF75}"/>
              </a:ext>
            </a:extLst>
          </p:cNvPr>
          <p:cNvSpPr txBox="1"/>
          <p:nvPr/>
        </p:nvSpPr>
        <p:spPr>
          <a:xfrm>
            <a:off x="4114800" y="196107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972C7-BA9B-FDEA-2D22-A0023A6AC4CE}"/>
              </a:ext>
            </a:extLst>
          </p:cNvPr>
          <p:cNvSpPr txBox="1"/>
          <p:nvPr/>
        </p:nvSpPr>
        <p:spPr>
          <a:xfrm>
            <a:off x="2560320" y="255543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2E7FBB-AA2D-7A0A-F04C-6120C44F1F5E}"/>
              </a:ext>
            </a:extLst>
          </p:cNvPr>
          <p:cNvSpPr/>
          <p:nvPr/>
        </p:nvSpPr>
        <p:spPr>
          <a:xfrm>
            <a:off x="731520" y="2921194"/>
            <a:ext cx="47548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FBF86-E9EC-9028-EBF6-A10949DA73C1}"/>
              </a:ext>
            </a:extLst>
          </p:cNvPr>
          <p:cNvSpPr txBox="1"/>
          <p:nvPr/>
        </p:nvSpPr>
        <p:spPr>
          <a:xfrm>
            <a:off x="914400" y="3012634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Landed on Homepage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1AF06-E156-ED1A-5E69-07D1A9280EFA}"/>
              </a:ext>
            </a:extLst>
          </p:cNvPr>
          <p:cNvSpPr txBox="1"/>
          <p:nvPr/>
        </p:nvSpPr>
        <p:spPr>
          <a:xfrm>
            <a:off x="914400" y="328695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1,130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AE6EBD-00BB-B698-1A07-6D4F647BE9C6}"/>
              </a:ext>
            </a:extLst>
          </p:cNvPr>
          <p:cNvSpPr txBox="1"/>
          <p:nvPr/>
        </p:nvSpPr>
        <p:spPr>
          <a:xfrm>
            <a:off x="4114800" y="314979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</a:rPr>
              <a:t>12.0%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9EE259-1F24-658E-D716-96888863BFBC}"/>
              </a:ext>
            </a:extLst>
          </p:cNvPr>
          <p:cNvSpPr txBox="1"/>
          <p:nvPr/>
        </p:nvSpPr>
        <p:spPr>
          <a:xfrm>
            <a:off x="2560320" y="372408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60CADE6-46DA-F613-78EC-F6B03E3A1FDF}"/>
              </a:ext>
            </a:extLst>
          </p:cNvPr>
          <p:cNvSpPr/>
          <p:nvPr/>
        </p:nvSpPr>
        <p:spPr>
          <a:xfrm>
            <a:off x="1097280" y="4109914"/>
            <a:ext cx="4023360" cy="8229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CE0EE7-53FA-5C39-C582-C4456A31F5E4}"/>
              </a:ext>
            </a:extLst>
          </p:cNvPr>
          <p:cNvSpPr txBox="1"/>
          <p:nvPr/>
        </p:nvSpPr>
        <p:spPr>
          <a:xfrm>
            <a:off x="1280160" y="420135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FFFFFF"/>
                </a:solidFill>
              </a:rPr>
              <a:t>Homepage AND saw OOP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19DF5-3DC9-4E47-D4AE-E971EBF597D4}"/>
              </a:ext>
            </a:extLst>
          </p:cNvPr>
          <p:cNvSpPr txBox="1"/>
          <p:nvPr/>
        </p:nvSpPr>
        <p:spPr>
          <a:xfrm>
            <a:off x="1280160" y="447567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1D1C3A-3908-3DFC-90C4-35C852CE2C7D}"/>
              </a:ext>
            </a:extLst>
          </p:cNvPr>
          <p:cNvSpPr txBox="1"/>
          <p:nvPr/>
        </p:nvSpPr>
        <p:spPr>
          <a:xfrm>
            <a:off x="3749040" y="433851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</a:rPr>
              <a:t>2.68%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F5D7EEA-911E-57B7-9EB9-031978ACC350}"/>
              </a:ext>
            </a:extLst>
          </p:cNvPr>
          <p:cNvSpPr/>
          <p:nvPr/>
        </p:nvSpPr>
        <p:spPr>
          <a:xfrm>
            <a:off x="6400800" y="1732474"/>
            <a:ext cx="5303520" cy="18288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B36ED9-66B8-B5A5-A6AF-2701FB7A72F6}"/>
              </a:ext>
            </a:extLst>
          </p:cNvPr>
          <p:cNvSpPr txBox="1"/>
          <p:nvPr/>
        </p:nvSpPr>
        <p:spPr>
          <a:xfrm>
            <a:off x="6583680" y="1869634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SHARE OF TOTAL SESSIONS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CDC55E-921E-340B-7A78-5B8EC5AE8D7F}"/>
              </a:ext>
            </a:extLst>
          </p:cNvPr>
          <p:cNvSpPr txBox="1"/>
          <p:nvPr/>
        </p:nvSpPr>
        <p:spPr>
          <a:xfrm>
            <a:off x="6583680" y="2189674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 dirty="0">
                <a:solidFill>
                  <a:srgbClr val="FFFFFF"/>
                </a:solidFill>
              </a:rPr>
              <a:t>2.68%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60D2D-0AFD-8C11-D879-935980875F72}"/>
              </a:ext>
            </a:extLst>
          </p:cNvPr>
          <p:cNvSpPr txBox="1"/>
          <p:nvPr/>
        </p:nvSpPr>
        <p:spPr>
          <a:xfrm>
            <a:off x="7638551" y="2921194"/>
            <a:ext cx="282801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GB" sz="1300" dirty="0">
                <a:solidFill>
                  <a:srgbClr val="FFFFFF"/>
                </a:solidFill>
              </a:rPr>
              <a:t>L</a:t>
            </a:r>
            <a:r>
              <a:rPr sz="1300" dirty="0" err="1">
                <a:solidFill>
                  <a:srgbClr val="FFFFFF"/>
                </a:solidFill>
              </a:rPr>
              <a:t>anded</a:t>
            </a:r>
            <a:r>
              <a:rPr sz="1300" dirty="0">
                <a:solidFill>
                  <a:srgbClr val="FFFFFF"/>
                </a:solidFill>
              </a:rPr>
              <a:t> on home </a:t>
            </a:r>
            <a:r>
              <a:rPr lang="en-GB" sz="1300" dirty="0">
                <a:solidFill>
                  <a:srgbClr val="FFFFFF"/>
                </a:solidFill>
              </a:rPr>
              <a:t>and</a:t>
            </a:r>
            <a:r>
              <a:rPr sz="1300" dirty="0">
                <a:solidFill>
                  <a:srgbClr val="FFFFFF"/>
                </a:solidFill>
              </a:rPr>
              <a:t> viewed OOP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4C750CF-4598-E227-A4BA-AA6ABE369AB2}"/>
              </a:ext>
            </a:extLst>
          </p:cNvPr>
          <p:cNvSpPr/>
          <p:nvPr/>
        </p:nvSpPr>
        <p:spPr>
          <a:xfrm>
            <a:off x="6400800" y="3835594"/>
            <a:ext cx="5303520" cy="1097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8A55E-945C-2344-547B-670E2AFB9644}"/>
              </a:ext>
            </a:extLst>
          </p:cNvPr>
          <p:cNvSpPr txBox="1"/>
          <p:nvPr/>
        </p:nvSpPr>
        <p:spPr>
          <a:xfrm>
            <a:off x="7664199" y="3927034"/>
            <a:ext cx="27767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64748B"/>
                </a:solidFill>
              </a:rPr>
              <a:t>Homepage </a:t>
            </a:r>
            <a:r>
              <a:rPr lang="en-DE" sz="1200" dirty="0">
                <a:solidFill>
                  <a:srgbClr val="64748B"/>
                </a:solidFill>
              </a:rPr>
              <a:t>-&gt;</a:t>
            </a:r>
            <a:r>
              <a:rPr sz="1200" dirty="0">
                <a:solidFill>
                  <a:srgbClr val="64748B"/>
                </a:solidFill>
              </a:rPr>
              <a:t> OOP Conversion Rate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F21BC0-D6CC-F1BB-F041-4DE838A994CD}"/>
              </a:ext>
            </a:extLst>
          </p:cNvPr>
          <p:cNvSpPr txBox="1"/>
          <p:nvPr/>
        </p:nvSpPr>
        <p:spPr>
          <a:xfrm>
            <a:off x="6583680" y="4201354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A2540"/>
                </a:solidFill>
              </a:rPr>
              <a:t>22.3%</a:t>
            </a:r>
          </a:p>
        </p:txBody>
      </p:sp>
    </p:spTree>
    <p:extLst>
      <p:ext uri="{BB962C8B-B14F-4D97-AF65-F5344CB8AC3E}">
        <p14:creationId xmlns:p14="http://schemas.microsoft.com/office/powerpoint/2010/main" val="2547090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13964B-F141-1EAE-ABE0-DEED1BF6D7E7}"/>
              </a:ext>
            </a:extLst>
          </p:cNvPr>
          <p:cNvSpPr/>
          <p:nvPr/>
        </p:nvSpPr>
        <p:spPr>
          <a:xfrm>
            <a:off x="365760" y="228600"/>
            <a:ext cx="502920" cy="3657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D82B6-9E1D-D7E3-232C-B4C612CE8318}"/>
              </a:ext>
            </a:extLst>
          </p:cNvPr>
          <p:cNvSpPr txBox="1"/>
          <p:nvPr/>
        </p:nvSpPr>
        <p:spPr>
          <a:xfrm>
            <a:off x="417486" y="256032"/>
            <a:ext cx="3994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7E150-1A53-4234-F446-98DE7998BF10}"/>
              </a:ext>
            </a:extLst>
          </p:cNvPr>
          <p:cNvSpPr txBox="1"/>
          <p:nvPr/>
        </p:nvSpPr>
        <p:spPr>
          <a:xfrm>
            <a:off x="920406" y="148310"/>
            <a:ext cx="53645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Impressions by Root Category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57C670-BF5E-216C-BAC6-846C3A080429}"/>
              </a:ext>
            </a:extLst>
          </p:cNvPr>
          <p:cNvSpPr/>
          <p:nvPr/>
        </p:nvSpPr>
        <p:spPr>
          <a:xfrm>
            <a:off x="365760" y="685800"/>
            <a:ext cx="6021080" cy="660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3CE6EC-9E6C-E81C-F97B-EBAE677112BF}"/>
              </a:ext>
            </a:extLst>
          </p:cNvPr>
          <p:cNvSpPr/>
          <p:nvPr/>
        </p:nvSpPr>
        <p:spPr>
          <a:xfrm>
            <a:off x="8412480" y="1899299"/>
            <a:ext cx="3383280" cy="11887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A37E9-E8F1-0271-ED24-F1F5E18DAA28}"/>
              </a:ext>
            </a:extLst>
          </p:cNvPr>
          <p:cNvSpPr txBox="1"/>
          <p:nvPr/>
        </p:nvSpPr>
        <p:spPr>
          <a:xfrm>
            <a:off x="9268062" y="2003449"/>
            <a:ext cx="166423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OOP </a:t>
            </a:r>
            <a:r>
              <a:rPr sz="11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86F9D-E5B4-750F-2A46-613986A57A3D}"/>
              </a:ext>
            </a:extLst>
          </p:cNvPr>
          <p:cNvSpPr txBox="1"/>
          <p:nvPr/>
        </p:nvSpPr>
        <p:spPr>
          <a:xfrm>
            <a:off x="9363441" y="2277769"/>
            <a:ext cx="14734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17,984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8876C2-BD86-E505-2148-9727B3BF4F7F}"/>
              </a:ext>
            </a:extLst>
          </p:cNvPr>
          <p:cNvSpPr/>
          <p:nvPr/>
        </p:nvSpPr>
        <p:spPr>
          <a:xfrm>
            <a:off x="8412480" y="3270899"/>
            <a:ext cx="3383280" cy="13716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321633-A670-C41D-26D8-32533BC93C7A}"/>
              </a:ext>
            </a:extLst>
          </p:cNvPr>
          <p:cNvSpPr txBox="1"/>
          <p:nvPr/>
        </p:nvSpPr>
        <p:spPr>
          <a:xfrm>
            <a:off x="9411065" y="3375049"/>
            <a:ext cx="127791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3 CATEGORIES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D1A681-7347-68A3-48F6-C9CB9C286813}"/>
              </a:ext>
            </a:extLst>
          </p:cNvPr>
          <p:cNvSpPr txBox="1"/>
          <p:nvPr/>
        </p:nvSpPr>
        <p:spPr>
          <a:xfrm>
            <a:off x="9488810" y="3590939"/>
            <a:ext cx="1122423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77%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566D5E-5CA4-4098-0CC0-BC7DE739AB89}"/>
              </a:ext>
            </a:extLst>
          </p:cNvPr>
          <p:cNvSpPr txBox="1"/>
          <p:nvPr/>
        </p:nvSpPr>
        <p:spPr>
          <a:xfrm>
            <a:off x="9294511" y="4198798"/>
            <a:ext cx="16305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 all product page views</a:t>
            </a:r>
          </a:p>
        </p:txBody>
      </p:sp>
      <p:pic>
        <p:nvPicPr>
          <p:cNvPr id="15" name="Picture 14" descr="A bar graph with numbers and a number of objects&#10;&#10;AI-generated content may be incorrect.">
            <a:extLst>
              <a:ext uri="{FF2B5EF4-FFF2-40B4-BE49-F238E27FC236}">
                <a16:creationId xmlns:a16="http://schemas.microsoft.com/office/drawing/2014/main" id="{C5CAF856-F88E-EFBC-F780-5F0315A8C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" y="1097280"/>
            <a:ext cx="7952548" cy="473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6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10C139-2779-970E-A9B8-4F47E58A742D}"/>
              </a:ext>
            </a:extLst>
          </p:cNvPr>
          <p:cNvSpPr txBox="1"/>
          <p:nvPr/>
        </p:nvSpPr>
        <p:spPr>
          <a:xfrm>
            <a:off x="365760" y="228600"/>
            <a:ext cx="19960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1F18A-2C14-52FF-E786-471E71B78E48}"/>
              </a:ext>
            </a:extLst>
          </p:cNvPr>
          <p:cNvSpPr/>
          <p:nvPr/>
        </p:nvSpPr>
        <p:spPr>
          <a:xfrm>
            <a:off x="365760" y="685800"/>
            <a:ext cx="9144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9CD653-4AEF-B55F-F134-66B26A113178}"/>
              </a:ext>
            </a:extLst>
          </p:cNvPr>
          <p:cNvSpPr/>
          <p:nvPr/>
        </p:nvSpPr>
        <p:spPr>
          <a:xfrm>
            <a:off x="274320" y="914400"/>
            <a:ext cx="411480" cy="2743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33AB0-9547-78B6-3EF1-60379D008D57}"/>
              </a:ext>
            </a:extLst>
          </p:cNvPr>
          <p:cNvSpPr txBox="1"/>
          <p:nvPr/>
        </p:nvSpPr>
        <p:spPr>
          <a:xfrm>
            <a:off x="308379" y="932688"/>
            <a:ext cx="34336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GB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3E9E5-6773-775C-D720-42D0F0DE8062}"/>
              </a:ext>
            </a:extLst>
          </p:cNvPr>
          <p:cNvSpPr txBox="1"/>
          <p:nvPr/>
        </p:nvSpPr>
        <p:spPr>
          <a:xfrm>
            <a:off x="777240" y="914400"/>
            <a:ext cx="17661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Typical User Flows:</a:t>
            </a:r>
            <a:endParaRPr sz="1200" b="1" dirty="0">
              <a:solidFill>
                <a:srgbClr val="0A25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D2CCB2-C53E-5E4D-D4EB-FE2CD5BAF290}"/>
              </a:ext>
            </a:extLst>
          </p:cNvPr>
          <p:cNvSpPr txBox="1"/>
          <p:nvPr/>
        </p:nvSpPr>
        <p:spPr>
          <a:xfrm>
            <a:off x="396240" y="1525163"/>
            <a:ext cx="526466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ordered_pages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SELECT 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page_template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ROW_NUMBER() OVER (PARTITION BY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BY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trace_time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page_order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FROM sessions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journey_paths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SELECT 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GROUP_CONCAT(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page_template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' -&gt; ') AS journey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FROM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ordered_pages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GROUP BY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journey,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COUNT(*) AS sessions,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ROUND(COUNT(*) * 100.0 / (SELECT COUNT(*) FROM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journey_paths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1) AS percentage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journey_paths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 journey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BY sessions DESC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 15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2E6DB0-FBF2-C699-E830-A2A962C7D899}"/>
              </a:ext>
            </a:extLst>
          </p:cNvPr>
          <p:cNvSpPr/>
          <p:nvPr/>
        </p:nvSpPr>
        <p:spPr>
          <a:xfrm>
            <a:off x="6618248" y="899258"/>
            <a:ext cx="411480" cy="2743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37327-6E39-A72E-95F9-D3729A3C9B87}"/>
              </a:ext>
            </a:extLst>
          </p:cNvPr>
          <p:cNvSpPr txBox="1"/>
          <p:nvPr/>
        </p:nvSpPr>
        <p:spPr>
          <a:xfrm>
            <a:off x="6654711" y="917546"/>
            <a:ext cx="33855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GB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14CBFD-E482-654B-45D6-3154313D435E}"/>
              </a:ext>
            </a:extLst>
          </p:cNvPr>
          <p:cNvSpPr txBox="1"/>
          <p:nvPr/>
        </p:nvSpPr>
        <p:spPr>
          <a:xfrm>
            <a:off x="7121168" y="899258"/>
            <a:ext cx="15549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Sessions from Google</a:t>
            </a:r>
            <a:endParaRPr sz="1200" b="1" dirty="0">
              <a:solidFill>
                <a:srgbClr val="0A25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B9290D-195F-350F-8925-98A05F5A3F47}"/>
              </a:ext>
            </a:extLst>
          </p:cNvPr>
          <p:cNvSpPr txBox="1"/>
          <p:nvPr/>
        </p:nvSpPr>
        <p:spPr>
          <a:xfrm>
            <a:off x="6531098" y="1486384"/>
            <a:ext cx="526466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first_touch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SELECT 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http_referer_apexdomain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ROW_NUMBER() OVER (PARTITION BY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BY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trace_time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FROM sessions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SUM(CASE WHEN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http_referer_apexdomain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'%google%' THEN 1 ELSE 0 END)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google_sessions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COUNT(*)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total_sessions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ROUND(SUM(CASE WHEN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http_referer_apexdomain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'%google%' THEN 1 ELSE 0 END) * 100.0 / COUNT(*), 2)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google_share_pct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first_touch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48D190-0C41-8F6E-5F04-89979C3C911A}"/>
              </a:ext>
            </a:extLst>
          </p:cNvPr>
          <p:cNvSpPr/>
          <p:nvPr/>
        </p:nvSpPr>
        <p:spPr>
          <a:xfrm>
            <a:off x="5674332" y="899258"/>
            <a:ext cx="45719" cy="43149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93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3">
            <a:extLst>
              <a:ext uri="{FF2B5EF4-FFF2-40B4-BE49-F238E27FC236}">
                <a16:creationId xmlns:a16="http://schemas.microsoft.com/office/drawing/2014/main" id="{60EAC35B-8F4B-4488-3903-6D61A091E6C3}"/>
              </a:ext>
            </a:extLst>
          </p:cNvPr>
          <p:cNvSpPr/>
          <p:nvPr/>
        </p:nvSpPr>
        <p:spPr>
          <a:xfrm>
            <a:off x="648457" y="549152"/>
            <a:ext cx="411480" cy="2743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D8524-8D35-587D-B39B-B4834BDD6487}"/>
              </a:ext>
            </a:extLst>
          </p:cNvPr>
          <p:cNvSpPr txBox="1"/>
          <p:nvPr/>
        </p:nvSpPr>
        <p:spPr>
          <a:xfrm>
            <a:off x="684920" y="567440"/>
            <a:ext cx="33855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GB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E2738-4239-3030-10CC-200E5E1CA554}"/>
              </a:ext>
            </a:extLst>
          </p:cNvPr>
          <p:cNvSpPr txBox="1"/>
          <p:nvPr/>
        </p:nvSpPr>
        <p:spPr>
          <a:xfrm>
            <a:off x="1158357" y="501646"/>
            <a:ext cx="19576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Homepage to OOP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70FBF-A857-073B-39BF-2A0F6A025493}"/>
              </a:ext>
            </a:extLst>
          </p:cNvPr>
          <p:cNvSpPr txBox="1"/>
          <p:nvPr/>
        </p:nvSpPr>
        <p:spPr>
          <a:xfrm>
            <a:off x="648457" y="1120314"/>
            <a:ext cx="526466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landing_page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SELECT 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page_template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ROW_NUMBER() OVER (PARTITION BY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BY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trace_time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FROM sessions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home_landings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SELECT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FROM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landing_page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WHERE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 AND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page_template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'MainProductCategory'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r>
              <a:rPr lang="en-US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oop_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SELECT DISTINCT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FROM sessions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WHERE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page_template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'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OffersOfProduct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AS (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SELECT COUNT(DISTINCT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total_sessions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FROM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landing_page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WHERE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COUNT(DISTINCT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home_</a:t>
            </a:r>
            <a:r>
              <a:rPr lang="en-US" sz="10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_oop_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(SELECT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total_sessions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total)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total_sessions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ROUND(COUNT(DISTINCT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* 100.0 / (SELECT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total_sessions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total), 2)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share_pct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home_landings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 </a:t>
            </a:r>
            <a:r>
              <a:rPr lang="en-US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 oop_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ON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h.session_id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o.session_id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FE49B-23CB-FB66-B91D-039D0FAD1583}"/>
              </a:ext>
            </a:extLst>
          </p:cNvPr>
          <p:cNvSpPr txBox="1"/>
          <p:nvPr/>
        </p:nvSpPr>
        <p:spPr>
          <a:xfrm>
            <a:off x="6440821" y="1120313"/>
            <a:ext cx="52646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CAST(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root_category_id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INTEGER)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root_category_id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COUNT(*) </a:t>
            </a:r>
            <a:r>
              <a:rPr lang="en-US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oop_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impressions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ROUND(COUNT(*) * 100.0 / SUM(COUNT(*)) OVER(), 1) AS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share_pct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sessions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page_template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'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OffersOfProduct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AND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root_category_id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NOT NULL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root_category_id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</a:t>
            </a:r>
            <a:r>
              <a:rPr lang="en-US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oop_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impressions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</a:t>
            </a: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6C4EAA32-4246-C3B2-DA15-323951725B94}"/>
              </a:ext>
            </a:extLst>
          </p:cNvPr>
          <p:cNvSpPr/>
          <p:nvPr/>
        </p:nvSpPr>
        <p:spPr>
          <a:xfrm>
            <a:off x="6440821" y="536117"/>
            <a:ext cx="411480" cy="2743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E9903-868E-ACE7-DFC4-0E0910DE3C17}"/>
              </a:ext>
            </a:extLst>
          </p:cNvPr>
          <p:cNvSpPr txBox="1"/>
          <p:nvPr/>
        </p:nvSpPr>
        <p:spPr>
          <a:xfrm>
            <a:off x="6477284" y="554405"/>
            <a:ext cx="33855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GB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A52BB5-AD42-3F45-1320-4197D37F975B}"/>
              </a:ext>
            </a:extLst>
          </p:cNvPr>
          <p:cNvSpPr txBox="1"/>
          <p:nvPr/>
        </p:nvSpPr>
        <p:spPr>
          <a:xfrm>
            <a:off x="6950721" y="501646"/>
            <a:ext cx="30008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Impressions by Category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AD4CA4-E600-794A-CAD3-616B5FA34057}"/>
              </a:ext>
            </a:extLst>
          </p:cNvPr>
          <p:cNvSpPr/>
          <p:nvPr/>
        </p:nvSpPr>
        <p:spPr>
          <a:xfrm>
            <a:off x="5862774" y="549152"/>
            <a:ext cx="50347" cy="5488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38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C5C0B9-91D0-D5BF-5716-6927CBCD82AE}"/>
              </a:ext>
            </a:extLst>
          </p:cNvPr>
          <p:cNvSpPr txBox="1"/>
          <p:nvPr/>
        </p:nvSpPr>
        <p:spPr>
          <a:xfrm>
            <a:off x="365760" y="228600"/>
            <a:ext cx="49500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Important Homepage KPIs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4421F-D091-6BEC-1172-EA6D34229302}"/>
              </a:ext>
            </a:extLst>
          </p:cNvPr>
          <p:cNvSpPr/>
          <p:nvPr/>
        </p:nvSpPr>
        <p:spPr>
          <a:xfrm>
            <a:off x="365759" y="685800"/>
            <a:ext cx="5155541" cy="660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7661A4-BC02-0A46-1423-F237E332ADE4}"/>
              </a:ext>
            </a:extLst>
          </p:cNvPr>
          <p:cNvSpPr/>
          <p:nvPr/>
        </p:nvSpPr>
        <p:spPr>
          <a:xfrm>
            <a:off x="365760" y="1659881"/>
            <a:ext cx="36576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98FDB-A6F7-ED94-3093-3BBF3C58CA62}"/>
              </a:ext>
            </a:extLst>
          </p:cNvPr>
          <p:cNvSpPr/>
          <p:nvPr/>
        </p:nvSpPr>
        <p:spPr>
          <a:xfrm>
            <a:off x="365760" y="1659881"/>
            <a:ext cx="36576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3E686-E33E-B0A2-C8DB-C2F63D0F401B}"/>
              </a:ext>
            </a:extLst>
          </p:cNvPr>
          <p:cNvSpPr txBox="1"/>
          <p:nvPr/>
        </p:nvSpPr>
        <p:spPr>
          <a:xfrm>
            <a:off x="548640" y="1842761"/>
            <a:ext cx="11169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Bounce 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341C0-A527-321C-EB49-128B044FD25B}"/>
              </a:ext>
            </a:extLst>
          </p:cNvPr>
          <p:cNvSpPr txBox="1"/>
          <p:nvPr/>
        </p:nvSpPr>
        <p:spPr>
          <a:xfrm>
            <a:off x="548640" y="2162801"/>
            <a:ext cx="98937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B8F65-9C72-AA13-ACF9-FC63186159FE}"/>
              </a:ext>
            </a:extLst>
          </p:cNvPr>
          <p:cNvSpPr txBox="1"/>
          <p:nvPr/>
        </p:nvSpPr>
        <p:spPr>
          <a:xfrm>
            <a:off x="548640" y="2757161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leaving without interaction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4ABBB8-B641-9CA8-7384-B46A4490A71F}"/>
              </a:ext>
            </a:extLst>
          </p:cNvPr>
          <p:cNvSpPr/>
          <p:nvPr/>
        </p:nvSpPr>
        <p:spPr>
          <a:xfrm>
            <a:off x="4206240" y="1659881"/>
            <a:ext cx="36576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CEDFD1-D663-E608-6241-4D5F950670F9}"/>
              </a:ext>
            </a:extLst>
          </p:cNvPr>
          <p:cNvSpPr/>
          <p:nvPr/>
        </p:nvSpPr>
        <p:spPr>
          <a:xfrm>
            <a:off x="4206240" y="1659881"/>
            <a:ext cx="365760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6DFA75-CADA-AC36-7758-EF7BA4E367FB}"/>
              </a:ext>
            </a:extLst>
          </p:cNvPr>
          <p:cNvSpPr txBox="1"/>
          <p:nvPr/>
        </p:nvSpPr>
        <p:spPr>
          <a:xfrm>
            <a:off x="4389120" y="1842761"/>
            <a:ext cx="15517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Homepage</a:t>
            </a:r>
            <a:r>
              <a:rPr lang="en-GB" sz="14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b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sz="1400" b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</a:t>
            </a:r>
            <a:endParaRPr sz="1400" b="1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725885-BF41-7899-101E-B3E98BFB5AC5}"/>
              </a:ext>
            </a:extLst>
          </p:cNvPr>
          <p:cNvSpPr txBox="1"/>
          <p:nvPr/>
        </p:nvSpPr>
        <p:spPr>
          <a:xfrm>
            <a:off x="4389120" y="2162801"/>
            <a:ext cx="98937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1397E-C016-3A4A-5BD9-DCE39D369C93}"/>
              </a:ext>
            </a:extLst>
          </p:cNvPr>
          <p:cNvSpPr txBox="1"/>
          <p:nvPr/>
        </p:nvSpPr>
        <p:spPr>
          <a:xfrm>
            <a:off x="4389120" y="2757161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reaching a product page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754796-F717-014B-28D5-B6C520E9BC5A}"/>
              </a:ext>
            </a:extLst>
          </p:cNvPr>
          <p:cNvSpPr/>
          <p:nvPr/>
        </p:nvSpPr>
        <p:spPr>
          <a:xfrm>
            <a:off x="8046720" y="1659881"/>
            <a:ext cx="36576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F0E580-56A2-5F56-B904-2A98CF75510E}"/>
              </a:ext>
            </a:extLst>
          </p:cNvPr>
          <p:cNvSpPr/>
          <p:nvPr/>
        </p:nvSpPr>
        <p:spPr>
          <a:xfrm>
            <a:off x="8046720" y="1659881"/>
            <a:ext cx="36576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124AF6-7B9D-2B9B-D900-04387BD8D72A}"/>
              </a:ext>
            </a:extLst>
          </p:cNvPr>
          <p:cNvSpPr txBox="1"/>
          <p:nvPr/>
        </p:nvSpPr>
        <p:spPr>
          <a:xfrm>
            <a:off x="8229600" y="1842761"/>
            <a:ext cx="11708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Usage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FB9E99-7623-C744-1D1C-9D31A5CE6899}"/>
              </a:ext>
            </a:extLst>
          </p:cNvPr>
          <p:cNvSpPr txBox="1"/>
          <p:nvPr/>
        </p:nvSpPr>
        <p:spPr>
          <a:xfrm>
            <a:off x="8229600" y="2162801"/>
            <a:ext cx="98937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6D861C-C927-8914-B186-DE2CE239188B}"/>
              </a:ext>
            </a:extLst>
          </p:cNvPr>
          <p:cNvSpPr txBox="1"/>
          <p:nvPr/>
        </p:nvSpPr>
        <p:spPr>
          <a:xfrm>
            <a:off x="8229600" y="2757161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using search bar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1DCC959-91BD-421F-8FD7-C39EE7BA6256}"/>
              </a:ext>
            </a:extLst>
          </p:cNvPr>
          <p:cNvSpPr/>
          <p:nvPr/>
        </p:nvSpPr>
        <p:spPr>
          <a:xfrm>
            <a:off x="365760" y="3854441"/>
            <a:ext cx="11430000" cy="109728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6B925B-A23A-9BFF-42B4-C4AE16B2316D}"/>
              </a:ext>
            </a:extLst>
          </p:cNvPr>
          <p:cNvSpPr txBox="1"/>
          <p:nvPr/>
        </p:nvSpPr>
        <p:spPr>
          <a:xfrm>
            <a:off x="1188720" y="3991601"/>
            <a:ext cx="21302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Problem Identified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DDA43D-B128-5492-D58A-35029C845D3F}"/>
              </a:ext>
            </a:extLst>
          </p:cNvPr>
          <p:cNvSpPr txBox="1"/>
          <p:nvPr/>
        </p:nvSpPr>
        <p:spPr>
          <a:xfrm>
            <a:off x="1188720" y="4311641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64% of homepage visitors exit without taking any action. Current homepage doesn't effectively guide users to products.</a:t>
            </a:r>
          </a:p>
        </p:txBody>
      </p:sp>
    </p:spTree>
    <p:extLst>
      <p:ext uri="{BB962C8B-B14F-4D97-AF65-F5344CB8AC3E}">
        <p14:creationId xmlns:p14="http://schemas.microsoft.com/office/powerpoint/2010/main" val="2168940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4D06703-F6B6-DAC0-0A1B-E4509621B4BE}"/>
              </a:ext>
            </a:extLst>
          </p:cNvPr>
          <p:cNvSpPr txBox="1"/>
          <p:nvPr/>
        </p:nvSpPr>
        <p:spPr>
          <a:xfrm>
            <a:off x="365760" y="228600"/>
            <a:ext cx="61635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Feature: Popular Comparisons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C5FDFA-A27E-BE91-6CCB-90217FC9C528}"/>
              </a:ext>
            </a:extLst>
          </p:cNvPr>
          <p:cNvSpPr/>
          <p:nvPr/>
        </p:nvSpPr>
        <p:spPr>
          <a:xfrm>
            <a:off x="365760" y="685800"/>
            <a:ext cx="6163546" cy="4956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5A158F5A-3551-E66F-EABF-0F299FFDBEA9}"/>
              </a:ext>
            </a:extLst>
          </p:cNvPr>
          <p:cNvSpPr/>
          <p:nvPr/>
        </p:nvSpPr>
        <p:spPr>
          <a:xfrm>
            <a:off x="365760" y="3844668"/>
            <a:ext cx="5486400" cy="18288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B279A2-81E3-B89F-6D5B-BABF9E25F697}"/>
              </a:ext>
            </a:extLst>
          </p:cNvPr>
          <p:cNvSpPr txBox="1"/>
          <p:nvPr/>
        </p:nvSpPr>
        <p:spPr>
          <a:xfrm>
            <a:off x="502920" y="4073268"/>
            <a:ext cx="110331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89409-2F0C-2BF5-79B0-6FBA115A943C}"/>
              </a:ext>
            </a:extLst>
          </p:cNvPr>
          <p:cNvSpPr txBox="1"/>
          <p:nvPr/>
        </p:nvSpPr>
        <p:spPr>
          <a:xfrm>
            <a:off x="502920" y="4478465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Homepage shows deals and categories but doesn't highlight </a:t>
            </a:r>
            <a:r>
              <a:rPr lang="en-US" sz="1200" dirty="0" err="1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idealo's</a:t>
            </a:r>
            <a:r>
              <a:rPr lang="en-US" sz="12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core value: price comparison.</a:t>
            </a:r>
            <a:endParaRPr sz="1200" dirty="0">
              <a:solidFill>
                <a:srgbClr val="7F1D1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7325233C-820B-E1CC-370A-96F5208866B4}"/>
              </a:ext>
            </a:extLst>
          </p:cNvPr>
          <p:cNvSpPr/>
          <p:nvPr/>
        </p:nvSpPr>
        <p:spPr>
          <a:xfrm>
            <a:off x="6306335" y="3844668"/>
            <a:ext cx="5486400" cy="18288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A40C93-F21F-CDC5-9875-B4DBA7D208B1}"/>
              </a:ext>
            </a:extLst>
          </p:cNvPr>
          <p:cNvSpPr txBox="1"/>
          <p:nvPr/>
        </p:nvSpPr>
        <p:spPr>
          <a:xfrm>
            <a:off x="6443495" y="3936108"/>
            <a:ext cx="11330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9F9F8B-618B-D010-3E1C-393E5BC72DA1}"/>
              </a:ext>
            </a:extLst>
          </p:cNvPr>
          <p:cNvSpPr txBox="1"/>
          <p:nvPr/>
        </p:nvSpPr>
        <p:spPr>
          <a:xfrm>
            <a:off x="6443495" y="4210428"/>
            <a:ext cx="521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'Popular Comparisons</a:t>
            </a:r>
            <a:r>
              <a:rPr lang="en-GB" sz="1200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sz="1200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section:
</a:t>
            </a:r>
            <a:r>
              <a:rPr lang="en-GB" sz="1200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iPhone 16 vs Samsung Galaxy S25</a:t>
            </a:r>
            <a:r>
              <a:rPr lang="en-GB" sz="120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- Top </a:t>
            </a:r>
            <a:r>
              <a:rPr lang="en-GB" sz="1200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Noise-Cancelling Headphones
- PS5 vs Xbox Series X</a:t>
            </a:r>
            <a:endParaRPr sz="1200" dirty="0">
              <a:solidFill>
                <a:srgbClr val="15803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4ADF0311-AA31-61CE-F798-2C5DE745E16C}"/>
              </a:ext>
            </a:extLst>
          </p:cNvPr>
          <p:cNvSpPr/>
          <p:nvPr/>
        </p:nvSpPr>
        <p:spPr>
          <a:xfrm>
            <a:off x="365760" y="1367412"/>
            <a:ext cx="5669280" cy="86868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77A04D-D50D-E9E7-D6E6-3B3ED94E0AE5}"/>
              </a:ext>
            </a:extLst>
          </p:cNvPr>
          <p:cNvSpPr txBox="1"/>
          <p:nvPr/>
        </p:nvSpPr>
        <p:spPr>
          <a:xfrm>
            <a:off x="548640" y="1458852"/>
            <a:ext cx="18930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Addresses 64% Bounce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C797C3-6C98-104C-3065-8DD5E88F43B4}"/>
              </a:ext>
            </a:extLst>
          </p:cNvPr>
          <p:cNvSpPr txBox="1"/>
          <p:nvPr/>
        </p:nvSpPr>
        <p:spPr>
          <a:xfrm>
            <a:off x="548640" y="1778892"/>
            <a:ext cx="23344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browsers actionable content</a:t>
            </a:r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FD415E22-C44D-1C56-C403-F7CB5C9B5A72}"/>
              </a:ext>
            </a:extLst>
          </p:cNvPr>
          <p:cNvSpPr/>
          <p:nvPr/>
        </p:nvSpPr>
        <p:spPr>
          <a:xfrm>
            <a:off x="365760" y="2373252"/>
            <a:ext cx="5669280" cy="868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58B9C0-F129-A0A2-F9D9-67CF9C2CA439}"/>
              </a:ext>
            </a:extLst>
          </p:cNvPr>
          <p:cNvSpPr txBox="1"/>
          <p:nvPr/>
        </p:nvSpPr>
        <p:spPr>
          <a:xfrm>
            <a:off x="548640" y="2464692"/>
            <a:ext cx="12047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Differentiates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0CD33D-4BD6-1A89-D2F6-1478EF4837C5}"/>
              </a:ext>
            </a:extLst>
          </p:cNvPr>
          <p:cNvSpPr txBox="1"/>
          <p:nvPr/>
        </p:nvSpPr>
        <p:spPr>
          <a:xfrm>
            <a:off x="548640" y="2784732"/>
            <a:ext cx="23925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comparison functionality</a:t>
            </a:r>
          </a:p>
        </p:txBody>
      </p:sp>
      <p:sp>
        <p:nvSpPr>
          <p:cNvPr id="32" name="Rounded Rectangle 15">
            <a:extLst>
              <a:ext uri="{FF2B5EF4-FFF2-40B4-BE49-F238E27FC236}">
                <a16:creationId xmlns:a16="http://schemas.microsoft.com/office/drawing/2014/main" id="{E53DBC78-251C-D0A0-20B4-7A6436F76E09}"/>
              </a:ext>
            </a:extLst>
          </p:cNvPr>
          <p:cNvSpPr/>
          <p:nvPr/>
        </p:nvSpPr>
        <p:spPr>
          <a:xfrm>
            <a:off x="6306335" y="1367412"/>
            <a:ext cx="5669280" cy="8686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0B7699-3C53-6E75-230E-495E8BFA650E}"/>
              </a:ext>
            </a:extLst>
          </p:cNvPr>
          <p:cNvSpPr txBox="1"/>
          <p:nvPr/>
        </p:nvSpPr>
        <p:spPr>
          <a:xfrm>
            <a:off x="6489215" y="1458852"/>
            <a:ext cx="17649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Research Users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E61B28-C332-60CA-D24C-3F5949544B41}"/>
              </a:ext>
            </a:extLst>
          </p:cNvPr>
          <p:cNvSpPr txBox="1"/>
          <p:nvPr/>
        </p:nvSpPr>
        <p:spPr>
          <a:xfrm>
            <a:off x="6489215" y="1778892"/>
            <a:ext cx="26159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Meets undecided users where they are</a:t>
            </a:r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74D727F1-48D8-971A-F14B-6581F7D61769}"/>
              </a:ext>
            </a:extLst>
          </p:cNvPr>
          <p:cNvSpPr/>
          <p:nvPr/>
        </p:nvSpPr>
        <p:spPr>
          <a:xfrm>
            <a:off x="6306335" y="2373252"/>
            <a:ext cx="5669280" cy="8686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D13137-DD74-17C4-DB96-9B554411137E}"/>
              </a:ext>
            </a:extLst>
          </p:cNvPr>
          <p:cNvSpPr txBox="1"/>
          <p:nvPr/>
        </p:nvSpPr>
        <p:spPr>
          <a:xfrm>
            <a:off x="6489215" y="2464692"/>
            <a:ext cx="16392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for Everyone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C5A38B-C2F2-7A6B-89C4-A8314007B68F}"/>
              </a:ext>
            </a:extLst>
          </p:cNvPr>
          <p:cNvSpPr txBox="1"/>
          <p:nvPr/>
        </p:nvSpPr>
        <p:spPr>
          <a:xfrm>
            <a:off x="6489215" y="2784732"/>
            <a:ext cx="12722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login required</a:t>
            </a:r>
          </a:p>
        </p:txBody>
      </p:sp>
    </p:spTree>
    <p:extLst>
      <p:ext uri="{BB962C8B-B14F-4D97-AF65-F5344CB8AC3E}">
        <p14:creationId xmlns:p14="http://schemas.microsoft.com/office/powerpoint/2010/main" val="4215456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D1604BAC-5186-21D5-956E-399C1443EE9F}"/>
              </a:ext>
            </a:extLst>
          </p:cNvPr>
          <p:cNvSpPr/>
          <p:nvPr/>
        </p:nvSpPr>
        <p:spPr>
          <a:xfrm>
            <a:off x="2285302" y="4660997"/>
            <a:ext cx="7378020" cy="18288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6E9AEB-C1A0-11EC-FB04-C11E51CCD625}"/>
              </a:ext>
            </a:extLst>
          </p:cNvPr>
          <p:cNvSpPr txBox="1"/>
          <p:nvPr/>
        </p:nvSpPr>
        <p:spPr>
          <a:xfrm>
            <a:off x="365760" y="228600"/>
            <a:ext cx="25242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 Metrics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EA921-4767-F1FB-073B-4C7BF095FF6E}"/>
              </a:ext>
            </a:extLst>
          </p:cNvPr>
          <p:cNvSpPr/>
          <p:nvPr/>
        </p:nvSpPr>
        <p:spPr>
          <a:xfrm>
            <a:off x="365759" y="685800"/>
            <a:ext cx="2524217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8DAC57-5D9A-7111-0B15-ACDABC5FDC8C}"/>
              </a:ext>
            </a:extLst>
          </p:cNvPr>
          <p:cNvSpPr/>
          <p:nvPr/>
        </p:nvSpPr>
        <p:spPr>
          <a:xfrm>
            <a:off x="2285302" y="820517"/>
            <a:ext cx="7315200" cy="1097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4FF47-C3C7-B64E-63A0-D4645DC8AA47}"/>
              </a:ext>
            </a:extLst>
          </p:cNvPr>
          <p:cNvSpPr txBox="1"/>
          <p:nvPr/>
        </p:nvSpPr>
        <p:spPr>
          <a:xfrm>
            <a:off x="2468182" y="957677"/>
            <a:ext cx="15819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 CTR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69113-9F9E-F6FE-B6BF-D0DA3CD4B1A0}"/>
              </a:ext>
            </a:extLst>
          </p:cNvPr>
          <p:cNvSpPr txBox="1"/>
          <p:nvPr/>
        </p:nvSpPr>
        <p:spPr>
          <a:xfrm>
            <a:off x="2468182" y="1277717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 homepage visitors clicking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A601C2-818A-80DF-77FA-D27719CA7238}"/>
              </a:ext>
            </a:extLst>
          </p:cNvPr>
          <p:cNvSpPr/>
          <p:nvPr/>
        </p:nvSpPr>
        <p:spPr>
          <a:xfrm>
            <a:off x="7680262" y="957677"/>
            <a:ext cx="1737360" cy="8229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1056C-CADC-A959-CF40-E241FFACA2F8}"/>
              </a:ext>
            </a:extLst>
          </p:cNvPr>
          <p:cNvSpPr txBox="1"/>
          <p:nvPr/>
        </p:nvSpPr>
        <p:spPr>
          <a:xfrm>
            <a:off x="8251424" y="1003397"/>
            <a:ext cx="595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3B203-40EB-A650-B926-D61CDFB301C1}"/>
              </a:ext>
            </a:extLst>
          </p:cNvPr>
          <p:cNvSpPr txBox="1"/>
          <p:nvPr/>
        </p:nvSpPr>
        <p:spPr>
          <a:xfrm>
            <a:off x="8096735" y="1231997"/>
            <a:ext cx="90441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5-10%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01DEC3-B27C-A97A-AD82-006B1F29E005}"/>
              </a:ext>
            </a:extLst>
          </p:cNvPr>
          <p:cNvSpPr/>
          <p:nvPr/>
        </p:nvSpPr>
        <p:spPr>
          <a:xfrm>
            <a:off x="2285302" y="2100677"/>
            <a:ext cx="7315200" cy="1097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F9B0A-1053-1901-543A-3290000001E3}"/>
              </a:ext>
            </a:extLst>
          </p:cNvPr>
          <p:cNvSpPr txBox="1"/>
          <p:nvPr/>
        </p:nvSpPr>
        <p:spPr>
          <a:xfrm>
            <a:off x="2468182" y="2237837"/>
            <a:ext cx="15687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</a:t>
            </a:r>
            <a:r>
              <a:rPr sz="16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C097A0-067D-92DA-2686-264E09C9FF65}"/>
              </a:ext>
            </a:extLst>
          </p:cNvPr>
          <p:cNvSpPr txBox="1"/>
          <p:nvPr/>
        </p:nvSpPr>
        <p:spPr>
          <a:xfrm>
            <a:off x="2468182" y="2557877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200" dirty="0" err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mprovement</a:t>
            </a:r>
            <a:r>
              <a:rPr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22% baseline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CC6FD3C-A0EE-7043-D5E2-B3D8EC530436}"/>
              </a:ext>
            </a:extLst>
          </p:cNvPr>
          <p:cNvSpPr/>
          <p:nvPr/>
        </p:nvSpPr>
        <p:spPr>
          <a:xfrm>
            <a:off x="7680262" y="2237837"/>
            <a:ext cx="1737360" cy="8229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B74B6-5011-AF80-36D6-343BADA58018}"/>
              </a:ext>
            </a:extLst>
          </p:cNvPr>
          <p:cNvSpPr txBox="1"/>
          <p:nvPr/>
        </p:nvSpPr>
        <p:spPr>
          <a:xfrm>
            <a:off x="8251424" y="2283557"/>
            <a:ext cx="595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08570F-7F8D-952E-98AF-C65C63D013B4}"/>
              </a:ext>
            </a:extLst>
          </p:cNvPr>
          <p:cNvSpPr txBox="1"/>
          <p:nvPr/>
        </p:nvSpPr>
        <p:spPr>
          <a:xfrm>
            <a:off x="8049446" y="2512157"/>
            <a:ext cx="99899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+2-3pp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8B891C-82A6-B453-F985-01C148A4F2E2}"/>
              </a:ext>
            </a:extLst>
          </p:cNvPr>
          <p:cNvSpPr/>
          <p:nvPr/>
        </p:nvSpPr>
        <p:spPr>
          <a:xfrm>
            <a:off x="2285302" y="3380837"/>
            <a:ext cx="7315200" cy="1097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BAEE88-CDFF-3455-21F5-4B667B9835CB}"/>
              </a:ext>
            </a:extLst>
          </p:cNvPr>
          <p:cNvSpPr txBox="1"/>
          <p:nvPr/>
        </p:nvSpPr>
        <p:spPr>
          <a:xfrm>
            <a:off x="2468182" y="3517997"/>
            <a:ext cx="17317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Bounce Reduction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400CFA-25D3-8B98-FBB6-4EF44CB973D2}"/>
              </a:ext>
            </a:extLst>
          </p:cNvPr>
          <p:cNvSpPr txBox="1"/>
          <p:nvPr/>
        </p:nvSpPr>
        <p:spPr>
          <a:xfrm>
            <a:off x="2468182" y="3838037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1200" dirty="0" err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eduction</a:t>
            </a:r>
            <a:r>
              <a:rPr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64% baseline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7C19EFD-9AA8-3173-E07D-72D627EE6AF1}"/>
              </a:ext>
            </a:extLst>
          </p:cNvPr>
          <p:cNvSpPr/>
          <p:nvPr/>
        </p:nvSpPr>
        <p:spPr>
          <a:xfrm>
            <a:off x="7680262" y="3517997"/>
            <a:ext cx="173736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5FFDF8-F863-F283-14D5-9F82D5174261}"/>
              </a:ext>
            </a:extLst>
          </p:cNvPr>
          <p:cNvSpPr txBox="1"/>
          <p:nvPr/>
        </p:nvSpPr>
        <p:spPr>
          <a:xfrm>
            <a:off x="8251424" y="3563717"/>
            <a:ext cx="595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EB8DCC-FBA8-0730-ECDF-7EA6F2E81ECC}"/>
              </a:ext>
            </a:extLst>
          </p:cNvPr>
          <p:cNvSpPr txBox="1"/>
          <p:nvPr/>
        </p:nvSpPr>
        <p:spPr>
          <a:xfrm>
            <a:off x="8005363" y="3792317"/>
            <a:ext cx="108715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-5-10pp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C3768B-B5D4-8403-85E6-4A78BEC6BAE3}"/>
              </a:ext>
            </a:extLst>
          </p:cNvPr>
          <p:cNvSpPr txBox="1"/>
          <p:nvPr/>
        </p:nvSpPr>
        <p:spPr>
          <a:xfrm>
            <a:off x="2348122" y="4706717"/>
            <a:ext cx="56930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A/B Test Plan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50/50 split between control and treatment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- 2-3 weeks duration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Statistical significance required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Monitor daily for issues</a:t>
            </a:r>
          </a:p>
          <a:p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4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A28EF1-A8B5-B9D2-5A23-AB5FFD3DBF1A}"/>
              </a:ext>
            </a:extLst>
          </p:cNvPr>
          <p:cNvSpPr txBox="1"/>
          <p:nvPr/>
        </p:nvSpPr>
        <p:spPr>
          <a:xfrm>
            <a:off x="365760" y="228600"/>
            <a:ext cx="49611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Plan &amp; My Role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33EC8-3157-24D3-739F-F20894893EB6}"/>
              </a:ext>
            </a:extLst>
          </p:cNvPr>
          <p:cNvSpPr/>
          <p:nvPr/>
        </p:nvSpPr>
        <p:spPr>
          <a:xfrm>
            <a:off x="365759" y="685800"/>
            <a:ext cx="4911235" cy="660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94084A-BC72-A76C-C1EB-7B0EFA597C08}"/>
              </a:ext>
            </a:extLst>
          </p:cNvPr>
          <p:cNvSpPr/>
          <p:nvPr/>
        </p:nvSpPr>
        <p:spPr>
          <a:xfrm>
            <a:off x="365760" y="2057400"/>
            <a:ext cx="73152" cy="7772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BC2654-64D5-F4A6-1DB4-4702EA007121}"/>
              </a:ext>
            </a:extLst>
          </p:cNvPr>
          <p:cNvSpPr/>
          <p:nvPr/>
        </p:nvSpPr>
        <p:spPr>
          <a:xfrm>
            <a:off x="502920" y="2057400"/>
            <a:ext cx="5303520" cy="777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B92F28-F0A3-C367-6F43-1D890AFFA233}"/>
              </a:ext>
            </a:extLst>
          </p:cNvPr>
          <p:cNvSpPr/>
          <p:nvPr/>
        </p:nvSpPr>
        <p:spPr>
          <a:xfrm>
            <a:off x="594360" y="2194560"/>
            <a:ext cx="822960" cy="2286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E95B3-5820-77FB-4F22-2A896E2BB069}"/>
              </a:ext>
            </a:extLst>
          </p:cNvPr>
          <p:cNvSpPr txBox="1"/>
          <p:nvPr/>
        </p:nvSpPr>
        <p:spPr>
          <a:xfrm>
            <a:off x="714734" y="2212848"/>
            <a:ext cx="58221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C634D-3393-8F59-679E-949A90B422FE}"/>
              </a:ext>
            </a:extLst>
          </p:cNvPr>
          <p:cNvSpPr txBox="1"/>
          <p:nvPr/>
        </p:nvSpPr>
        <p:spPr>
          <a:xfrm>
            <a:off x="1508760" y="2167128"/>
            <a:ext cx="17629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Discovery &amp; 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83C42-34C1-C559-422D-98399CE6F539}"/>
              </a:ext>
            </a:extLst>
          </p:cNvPr>
          <p:cNvSpPr txBox="1"/>
          <p:nvPr/>
        </p:nvSpPr>
        <p:spPr>
          <a:xfrm>
            <a:off x="1508760" y="2468880"/>
            <a:ext cx="266611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scope, analyze data for comparisons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B03AEC-404A-EE7C-9925-61E8E6823699}"/>
              </a:ext>
            </a:extLst>
          </p:cNvPr>
          <p:cNvSpPr/>
          <p:nvPr/>
        </p:nvSpPr>
        <p:spPr>
          <a:xfrm>
            <a:off x="365760" y="2926080"/>
            <a:ext cx="73152" cy="7772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9B69FF-6F32-F832-ADDD-FFD050F9A8C1}"/>
              </a:ext>
            </a:extLst>
          </p:cNvPr>
          <p:cNvSpPr/>
          <p:nvPr/>
        </p:nvSpPr>
        <p:spPr>
          <a:xfrm>
            <a:off x="502920" y="2926080"/>
            <a:ext cx="5303520" cy="777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CE73E2C-F830-05DA-25F1-4E7A78C57FFD}"/>
              </a:ext>
            </a:extLst>
          </p:cNvPr>
          <p:cNvSpPr/>
          <p:nvPr/>
        </p:nvSpPr>
        <p:spPr>
          <a:xfrm>
            <a:off x="594360" y="3063240"/>
            <a:ext cx="822960" cy="22860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15C681-DC7B-56CA-6066-FD7921B9E2A7}"/>
              </a:ext>
            </a:extLst>
          </p:cNvPr>
          <p:cNvSpPr txBox="1"/>
          <p:nvPr/>
        </p:nvSpPr>
        <p:spPr>
          <a:xfrm>
            <a:off x="714734" y="3081528"/>
            <a:ext cx="58221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39DFC3-DABC-9234-E854-DA2AC09A7410}"/>
              </a:ext>
            </a:extLst>
          </p:cNvPr>
          <p:cNvSpPr txBox="1"/>
          <p:nvPr/>
        </p:nvSpPr>
        <p:spPr>
          <a:xfrm>
            <a:off x="1508760" y="3035808"/>
            <a:ext cx="13485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A/B Test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032982-C4BF-71FD-5C35-7FB6B8372898}"/>
              </a:ext>
            </a:extLst>
          </p:cNvPr>
          <p:cNvSpPr txBox="1"/>
          <p:nvPr/>
        </p:nvSpPr>
        <p:spPr>
          <a:xfrm>
            <a:off x="1508760" y="3337560"/>
            <a:ext cx="19688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50/50 split, 2-3 weeks duration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ED2AFE-988F-5925-CD00-5FEB60A84945}"/>
              </a:ext>
            </a:extLst>
          </p:cNvPr>
          <p:cNvSpPr/>
          <p:nvPr/>
        </p:nvSpPr>
        <p:spPr>
          <a:xfrm>
            <a:off x="365760" y="379476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51AD142-3DF4-8652-E418-29EA93956E3A}"/>
              </a:ext>
            </a:extLst>
          </p:cNvPr>
          <p:cNvSpPr/>
          <p:nvPr/>
        </p:nvSpPr>
        <p:spPr>
          <a:xfrm>
            <a:off x="502920" y="3794760"/>
            <a:ext cx="5303520" cy="777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1CDDF35-4347-4103-37D6-BA89877155B6}"/>
              </a:ext>
            </a:extLst>
          </p:cNvPr>
          <p:cNvSpPr/>
          <p:nvPr/>
        </p:nvSpPr>
        <p:spPr>
          <a:xfrm>
            <a:off x="594360" y="3931920"/>
            <a:ext cx="822960" cy="2286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E39449-B6F1-2C51-5CAA-2CDB9A5128B0}"/>
              </a:ext>
            </a:extLst>
          </p:cNvPr>
          <p:cNvSpPr txBox="1"/>
          <p:nvPr/>
        </p:nvSpPr>
        <p:spPr>
          <a:xfrm>
            <a:off x="714734" y="3950208"/>
            <a:ext cx="58221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6D4DCA-DEA9-2FCB-9A10-6D46543948DE}"/>
              </a:ext>
            </a:extLst>
          </p:cNvPr>
          <p:cNvSpPr txBox="1"/>
          <p:nvPr/>
        </p:nvSpPr>
        <p:spPr>
          <a:xfrm>
            <a:off x="1508760" y="3904488"/>
            <a:ext cx="15342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&amp; Monitor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A96AB0-35B5-A2E7-61E2-18BBD99733A8}"/>
              </a:ext>
            </a:extLst>
          </p:cNvPr>
          <p:cNvSpPr txBox="1"/>
          <p:nvPr/>
        </p:nvSpPr>
        <p:spPr>
          <a:xfrm>
            <a:off x="1508760" y="4206240"/>
            <a:ext cx="22733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 out if positive, continue tracking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D9B034-E9B7-5CF7-FB6A-E4941B6B6163}"/>
              </a:ext>
            </a:extLst>
          </p:cNvPr>
          <p:cNvSpPr txBox="1"/>
          <p:nvPr/>
        </p:nvSpPr>
        <p:spPr>
          <a:xfrm>
            <a:off x="6035040" y="914400"/>
            <a:ext cx="17313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PRODUCT ANALYST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CE2845B-1620-74BA-DE5B-B4774683CC8C}"/>
              </a:ext>
            </a:extLst>
          </p:cNvPr>
          <p:cNvSpPr/>
          <p:nvPr/>
        </p:nvSpPr>
        <p:spPr>
          <a:xfrm>
            <a:off x="6035040" y="1280160"/>
            <a:ext cx="5760720" cy="132588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FD8F16-91F4-D4B3-075B-13A5CA2DC26B}"/>
              </a:ext>
            </a:extLst>
          </p:cNvPr>
          <p:cNvSpPr txBox="1"/>
          <p:nvPr/>
        </p:nvSpPr>
        <p:spPr>
          <a:xfrm>
            <a:off x="6217920" y="1371600"/>
            <a:ext cx="1096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Launch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E6CE86-A59C-BA8E-0FCF-0D5712C6935B}"/>
              </a:ext>
            </a:extLst>
          </p:cNvPr>
          <p:cNvSpPr txBox="1"/>
          <p:nvPr/>
        </p:nvSpPr>
        <p:spPr>
          <a:xfrm>
            <a:off x="6217920" y="1645920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data for comparisons
• Define success metrics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964F670-7CFD-8422-51AE-A3BD489028FB}"/>
              </a:ext>
            </a:extLst>
          </p:cNvPr>
          <p:cNvSpPr/>
          <p:nvPr/>
        </p:nvSpPr>
        <p:spPr>
          <a:xfrm>
            <a:off x="6035040" y="2743200"/>
            <a:ext cx="5760720" cy="13258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C59C7A-8FA6-9B05-79FC-B878DD292AD9}"/>
              </a:ext>
            </a:extLst>
          </p:cNvPr>
          <p:cNvSpPr txBox="1"/>
          <p:nvPr/>
        </p:nvSpPr>
        <p:spPr>
          <a:xfrm>
            <a:off x="6217920" y="2834640"/>
            <a:ext cx="9038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Test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5DC460-368C-9955-787E-D43323B0C83A}"/>
              </a:ext>
            </a:extLst>
          </p:cNvPr>
          <p:cNvSpPr txBox="1"/>
          <p:nvPr/>
        </p:nvSpPr>
        <p:spPr>
          <a:xfrm>
            <a:off x="6217920" y="3108960"/>
            <a:ext cx="5394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Monitor results daily
• Check statistical significance
• Flag issues early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BF68C92-612A-3E62-0F29-1F168CE859C5}"/>
              </a:ext>
            </a:extLst>
          </p:cNvPr>
          <p:cNvSpPr/>
          <p:nvPr/>
        </p:nvSpPr>
        <p:spPr>
          <a:xfrm>
            <a:off x="6035040" y="4206240"/>
            <a:ext cx="5760720" cy="13258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0CCD7A-224C-A2A6-132D-799BFB86D96F}"/>
              </a:ext>
            </a:extLst>
          </p:cNvPr>
          <p:cNvSpPr txBox="1"/>
          <p:nvPr/>
        </p:nvSpPr>
        <p:spPr>
          <a:xfrm>
            <a:off x="6217920" y="4297680"/>
            <a:ext cx="99873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Launch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BB0CBE-5435-1935-ABE3-546E0038FAD0}"/>
              </a:ext>
            </a:extLst>
          </p:cNvPr>
          <p:cNvSpPr txBox="1"/>
          <p:nvPr/>
        </p:nvSpPr>
        <p:spPr>
          <a:xfrm>
            <a:off x="6217920" y="4572000"/>
            <a:ext cx="5394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Build dashboards
• Report insights
• Identify optimizations</a:t>
            </a:r>
          </a:p>
        </p:txBody>
      </p:sp>
    </p:spTree>
    <p:extLst>
      <p:ext uri="{BB962C8B-B14F-4D97-AF65-F5344CB8AC3E}">
        <p14:creationId xmlns:p14="http://schemas.microsoft.com/office/powerpoint/2010/main" val="4212929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B1CB70-028A-BB8C-049B-021B218D289E}"/>
              </a:ext>
            </a:extLst>
          </p:cNvPr>
          <p:cNvSpPr txBox="1"/>
          <p:nvPr/>
        </p:nvSpPr>
        <p:spPr>
          <a:xfrm>
            <a:off x="365760" y="228600"/>
            <a:ext cx="16081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4AED40-1CF3-F2CF-F0C3-8B2292AF0B34}"/>
              </a:ext>
            </a:extLst>
          </p:cNvPr>
          <p:cNvSpPr/>
          <p:nvPr/>
        </p:nvSpPr>
        <p:spPr>
          <a:xfrm>
            <a:off x="365759" y="685800"/>
            <a:ext cx="1798087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B0150-2F2C-C89D-FA4A-E87C2DB2CA3E}"/>
              </a:ext>
            </a:extLst>
          </p:cNvPr>
          <p:cNvSpPr txBox="1"/>
          <p:nvPr/>
        </p:nvSpPr>
        <p:spPr>
          <a:xfrm>
            <a:off x="3279974" y="822960"/>
            <a:ext cx="18184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1: KEY FINDINGS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901C5F-5D79-A16B-D7DD-CCBA4A73FCFA}"/>
              </a:ext>
            </a:extLst>
          </p:cNvPr>
          <p:cNvSpPr/>
          <p:nvPr/>
        </p:nvSpPr>
        <p:spPr>
          <a:xfrm>
            <a:off x="3279974" y="1188720"/>
            <a:ext cx="1737360" cy="8229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639B0-3E7F-90EF-AE4B-A197EAA7BE77}"/>
              </a:ext>
            </a:extLst>
          </p:cNvPr>
          <p:cNvSpPr txBox="1"/>
          <p:nvPr/>
        </p:nvSpPr>
        <p:spPr>
          <a:xfrm>
            <a:off x="3669997" y="1280160"/>
            <a:ext cx="9573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70.2%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621FC-5E07-EEB1-EED8-6DA06A5EED45}"/>
              </a:ext>
            </a:extLst>
          </p:cNvPr>
          <p:cNvSpPr txBox="1"/>
          <p:nvPr/>
        </p:nvSpPr>
        <p:spPr>
          <a:xfrm>
            <a:off x="3853541" y="1691640"/>
            <a:ext cx="59022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A3E5E7-E269-9014-5B3B-4A83CBCEF39B}"/>
              </a:ext>
            </a:extLst>
          </p:cNvPr>
          <p:cNvSpPr/>
          <p:nvPr/>
        </p:nvSpPr>
        <p:spPr>
          <a:xfrm>
            <a:off x="5200214" y="1188720"/>
            <a:ext cx="1737360" cy="8229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0CC6C-F7D3-4CFC-E389-10CD7801E0E3}"/>
              </a:ext>
            </a:extLst>
          </p:cNvPr>
          <p:cNvSpPr txBox="1"/>
          <p:nvPr/>
        </p:nvSpPr>
        <p:spPr>
          <a:xfrm>
            <a:off x="5590237" y="1280160"/>
            <a:ext cx="9573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47.8%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A6E43-31CB-6CD7-5E12-30F29E19CC71}"/>
              </a:ext>
            </a:extLst>
          </p:cNvPr>
          <p:cNvSpPr txBox="1"/>
          <p:nvPr/>
        </p:nvSpPr>
        <p:spPr>
          <a:xfrm>
            <a:off x="5762560" y="1691640"/>
            <a:ext cx="6126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3A22F73-8BAF-A369-8C30-5B650C478421}"/>
              </a:ext>
            </a:extLst>
          </p:cNvPr>
          <p:cNvSpPr/>
          <p:nvPr/>
        </p:nvSpPr>
        <p:spPr>
          <a:xfrm>
            <a:off x="7120454" y="1188720"/>
            <a:ext cx="173736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D1AC7-959E-E8A2-3EDA-E7EC38C26317}"/>
              </a:ext>
            </a:extLst>
          </p:cNvPr>
          <p:cNvSpPr txBox="1"/>
          <p:nvPr/>
        </p:nvSpPr>
        <p:spPr>
          <a:xfrm>
            <a:off x="7510477" y="1280160"/>
            <a:ext cx="9573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25.3%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7D4A41-6B2A-581C-E4F7-EDAFDE36F1E7}"/>
              </a:ext>
            </a:extLst>
          </p:cNvPr>
          <p:cNvSpPr txBox="1"/>
          <p:nvPr/>
        </p:nvSpPr>
        <p:spPr>
          <a:xfrm>
            <a:off x="7669976" y="1691640"/>
            <a:ext cx="63831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C7F0A1-4EB1-A10A-FA4A-495A13AB8EF8}"/>
              </a:ext>
            </a:extLst>
          </p:cNvPr>
          <p:cNvSpPr txBox="1"/>
          <p:nvPr/>
        </p:nvSpPr>
        <p:spPr>
          <a:xfrm>
            <a:off x="3279974" y="2194560"/>
            <a:ext cx="34281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78% land on product pages (bypassing homepage)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99AB4-03EF-4694-3010-9D299D05AF58}"/>
              </a:ext>
            </a:extLst>
          </p:cNvPr>
          <p:cNvSpPr txBox="1"/>
          <p:nvPr/>
        </p:nvSpPr>
        <p:spPr>
          <a:xfrm>
            <a:off x="3279974" y="2514600"/>
            <a:ext cx="300300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2.68% land on homepage </a:t>
            </a:r>
            <a:r>
              <a:rPr lang="en-GB" sz="12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2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view product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6260B-6AD6-8EE3-83B0-F3D19EBBECF3}"/>
              </a:ext>
            </a:extLst>
          </p:cNvPr>
          <p:cNvSpPr txBox="1"/>
          <p:nvPr/>
        </p:nvSpPr>
        <p:spPr>
          <a:xfrm>
            <a:off x="3279974" y="2834640"/>
            <a:ext cx="29756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Electronics, Shoes, Clothing = 77% of views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E81550E-B7DF-6590-63FA-D400CCBA3BB3}"/>
              </a:ext>
            </a:extLst>
          </p:cNvPr>
          <p:cNvSpPr/>
          <p:nvPr/>
        </p:nvSpPr>
        <p:spPr>
          <a:xfrm>
            <a:off x="3397938" y="3383280"/>
            <a:ext cx="5577840" cy="22860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8D5C54-F335-520D-10E5-6A27FAC54792}"/>
              </a:ext>
            </a:extLst>
          </p:cNvPr>
          <p:cNvSpPr txBox="1"/>
          <p:nvPr/>
        </p:nvSpPr>
        <p:spPr>
          <a:xfrm>
            <a:off x="3580818" y="3520440"/>
            <a:ext cx="15740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 PROPOSAL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1FEF1-414C-9317-FD15-CA9E1A2E51E3}"/>
              </a:ext>
            </a:extLst>
          </p:cNvPr>
          <p:cNvSpPr txBox="1"/>
          <p:nvPr/>
        </p:nvSpPr>
        <p:spPr>
          <a:xfrm>
            <a:off x="3580818" y="3840480"/>
            <a:ext cx="267598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Popular Comparisons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D338A3-BDBE-4FC0-84F5-180FA8D9DC4D}"/>
              </a:ext>
            </a:extLst>
          </p:cNvPr>
          <p:cNvSpPr txBox="1"/>
          <p:nvPr/>
        </p:nvSpPr>
        <p:spPr>
          <a:xfrm>
            <a:off x="3580818" y="4297680"/>
            <a:ext cx="5212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Homepage section with head-to-head comparisons to reduce 64% bounce rate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3D7087-6CE3-F284-84AC-2E3F5E38C2B6}"/>
              </a:ext>
            </a:extLst>
          </p:cNvPr>
          <p:cNvSpPr txBox="1"/>
          <p:nvPr/>
        </p:nvSpPr>
        <p:spPr>
          <a:xfrm>
            <a:off x="3970772" y="4937760"/>
            <a:ext cx="7745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5-10%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0D752-0809-EC5A-58C7-0EC5AD65F58B}"/>
              </a:ext>
            </a:extLst>
          </p:cNvPr>
          <p:cNvSpPr txBox="1"/>
          <p:nvPr/>
        </p:nvSpPr>
        <p:spPr>
          <a:xfrm>
            <a:off x="4165537" y="5257800"/>
            <a:ext cx="38504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F3753F-6144-000F-89FE-549CD39D2EA6}"/>
              </a:ext>
            </a:extLst>
          </p:cNvPr>
          <p:cNvSpPr txBox="1"/>
          <p:nvPr/>
        </p:nvSpPr>
        <p:spPr>
          <a:xfrm>
            <a:off x="5633593" y="4937760"/>
            <a:ext cx="9236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-5-10pp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44263-5BB6-6830-632E-114F0D43E52F}"/>
              </a:ext>
            </a:extLst>
          </p:cNvPr>
          <p:cNvSpPr txBox="1"/>
          <p:nvPr/>
        </p:nvSpPr>
        <p:spPr>
          <a:xfrm>
            <a:off x="5807518" y="5257800"/>
            <a:ext cx="5757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E437BA-D740-DD38-CF99-15AE1F453E6D}"/>
              </a:ext>
            </a:extLst>
          </p:cNvPr>
          <p:cNvSpPr txBox="1"/>
          <p:nvPr/>
        </p:nvSpPr>
        <p:spPr>
          <a:xfrm>
            <a:off x="7407020" y="4937760"/>
            <a:ext cx="8515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+2-3pp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A81965-01CC-7C30-0C71-2B812EE0F643}"/>
              </a:ext>
            </a:extLst>
          </p:cNvPr>
          <p:cNvSpPr txBox="1"/>
          <p:nvPr/>
        </p:nvSpPr>
        <p:spPr>
          <a:xfrm>
            <a:off x="7609800" y="5257800"/>
            <a:ext cx="4459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2102801-FE66-24B3-C4BB-994CD3032AC1}"/>
              </a:ext>
            </a:extLst>
          </p:cNvPr>
          <p:cNvSpPr/>
          <p:nvPr/>
        </p:nvSpPr>
        <p:spPr>
          <a:xfrm>
            <a:off x="9988598" y="6103617"/>
            <a:ext cx="2024245" cy="685801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D5A8F1-8F94-32F0-6449-E5F4BDBA42CB}"/>
              </a:ext>
            </a:extLst>
          </p:cNvPr>
          <p:cNvSpPr txBox="1"/>
          <p:nvPr/>
        </p:nvSpPr>
        <p:spPr>
          <a:xfrm>
            <a:off x="10571209" y="6169518"/>
            <a:ext cx="8471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FB3EC4-310A-056F-F609-449A3B2C5FFD}"/>
              </a:ext>
            </a:extLst>
          </p:cNvPr>
          <p:cNvSpPr txBox="1"/>
          <p:nvPr/>
        </p:nvSpPr>
        <p:spPr>
          <a:xfrm>
            <a:off x="10402157" y="6446517"/>
            <a:ext cx="11852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Sandeep Uprety</a:t>
            </a:r>
          </a:p>
        </p:txBody>
      </p:sp>
    </p:spTree>
    <p:extLst>
      <p:ext uri="{BB962C8B-B14F-4D97-AF65-F5344CB8AC3E}">
        <p14:creationId xmlns:p14="http://schemas.microsoft.com/office/powerpoint/2010/main" val="319820760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99</TotalTime>
  <Words>1272</Words>
  <Application>Microsoft Office PowerPoint</Application>
  <PresentationFormat>Widescreen</PresentationFormat>
  <Paragraphs>254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Uprety</dc:creator>
  <cp:lastModifiedBy>Sandeep Uprety</cp:lastModifiedBy>
  <cp:revision>14</cp:revision>
  <dcterms:created xsi:type="dcterms:W3CDTF">2025-12-12T12:25:49Z</dcterms:created>
  <dcterms:modified xsi:type="dcterms:W3CDTF">2025-12-12T14:12:00Z</dcterms:modified>
</cp:coreProperties>
</file>